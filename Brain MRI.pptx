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9"/>
  </p:notesMasterIdLst>
  <p:sldIdLst>
    <p:sldId id="256" r:id="rId5"/>
    <p:sldId id="258" r:id="rId6"/>
    <p:sldId id="257" r:id="rId7"/>
    <p:sldId id="259" r:id="rId8"/>
    <p:sldId id="260" r:id="rId9"/>
    <p:sldId id="261" r:id="rId10"/>
    <p:sldId id="276" r:id="rId11"/>
    <p:sldId id="262" r:id="rId12"/>
    <p:sldId id="263" r:id="rId13"/>
    <p:sldId id="277" r:id="rId14"/>
    <p:sldId id="266" r:id="rId15"/>
    <p:sldId id="280" r:id="rId16"/>
    <p:sldId id="281" r:id="rId17"/>
    <p:sldId id="267" r:id="rId18"/>
    <p:sldId id="268" r:id="rId19"/>
    <p:sldId id="282" r:id="rId20"/>
    <p:sldId id="269" r:id="rId21"/>
    <p:sldId id="283" r:id="rId22"/>
    <p:sldId id="270" r:id="rId23"/>
    <p:sldId id="284" r:id="rId24"/>
    <p:sldId id="271" r:id="rId25"/>
    <p:sldId id="285" r:id="rId26"/>
    <p:sldId id="272" r:id="rId27"/>
    <p:sldId id="286" r:id="rId28"/>
    <p:sldId id="273" r:id="rId29"/>
    <p:sldId id="287" r:id="rId30"/>
    <p:sldId id="288" r:id="rId31"/>
    <p:sldId id="297" r:id="rId32"/>
    <p:sldId id="274" r:id="rId33"/>
    <p:sldId id="298" r:id="rId34"/>
    <p:sldId id="360" r:id="rId35"/>
    <p:sldId id="361" r:id="rId36"/>
    <p:sldId id="289" r:id="rId37"/>
    <p:sldId id="299" r:id="rId38"/>
    <p:sldId id="290" r:id="rId39"/>
    <p:sldId id="300" r:id="rId40"/>
    <p:sldId id="291" r:id="rId41"/>
    <p:sldId id="301" r:id="rId42"/>
    <p:sldId id="292" r:id="rId43"/>
    <p:sldId id="302" r:id="rId44"/>
    <p:sldId id="303" r:id="rId45"/>
    <p:sldId id="293" r:id="rId46"/>
    <p:sldId id="294" r:id="rId47"/>
    <p:sldId id="304" r:id="rId48"/>
    <p:sldId id="295" r:id="rId49"/>
    <p:sldId id="305" r:id="rId50"/>
    <p:sldId id="296" r:id="rId51"/>
    <p:sldId id="306" r:id="rId52"/>
    <p:sldId id="275" r:id="rId53"/>
    <p:sldId id="312" r:id="rId54"/>
    <p:sldId id="307" r:id="rId55"/>
    <p:sldId id="313" r:id="rId56"/>
    <p:sldId id="330" r:id="rId57"/>
    <p:sldId id="334" r:id="rId58"/>
    <p:sldId id="308" r:id="rId59"/>
    <p:sldId id="314" r:id="rId60"/>
    <p:sldId id="309" r:id="rId61"/>
    <p:sldId id="315" r:id="rId62"/>
    <p:sldId id="310" r:id="rId63"/>
    <p:sldId id="316" r:id="rId64"/>
    <p:sldId id="311" r:id="rId65"/>
    <p:sldId id="317" r:id="rId66"/>
    <p:sldId id="321" r:id="rId67"/>
    <p:sldId id="322" r:id="rId68"/>
    <p:sldId id="318" r:id="rId69"/>
    <p:sldId id="319" r:id="rId70"/>
    <p:sldId id="323" r:id="rId71"/>
    <p:sldId id="324" r:id="rId72"/>
    <p:sldId id="320" r:id="rId73"/>
    <p:sldId id="325" r:id="rId74"/>
    <p:sldId id="326" r:id="rId75"/>
    <p:sldId id="327" r:id="rId76"/>
    <p:sldId id="331" r:id="rId77"/>
    <p:sldId id="328" r:id="rId78"/>
    <p:sldId id="332" r:id="rId79"/>
    <p:sldId id="329" r:id="rId80"/>
    <p:sldId id="333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264" r:id="rId92"/>
    <p:sldId id="278" r:id="rId93"/>
    <p:sldId id="265" r:id="rId94"/>
    <p:sldId id="279" r:id="rId95"/>
    <p:sldId id="345" r:id="rId96"/>
    <p:sldId id="346" r:id="rId97"/>
    <p:sldId id="347" r:id="rId9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theme" Target="theme/theme1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103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notesMaster" Target="notesMasters/notesMaster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70B3C-0B23-4161-B756-0792D294D0EE}" type="datetimeFigureOut">
              <a:rPr lang="cs-CZ" smtClean="0"/>
              <a:t>26.05.2026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4B624-CBA7-45AC-987C-E86C15CC6C1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4263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15036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98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89771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84491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35405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37052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1948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654428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23762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96594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738142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557028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59421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734372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19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25771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845170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21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869813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22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809553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23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299215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24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858928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25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971771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26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312042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27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31881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28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121818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29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703104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30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57253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33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469765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34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963867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35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799138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36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287198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37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155900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38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88709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39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639278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40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485168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41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481474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42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616748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43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69485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44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09550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45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524772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46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3146041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47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4497060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48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720424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49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8862166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50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225240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51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8388568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52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6187358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55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5744046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56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020441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57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392100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58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7058993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59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6945714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60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7607943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61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833216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62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5970654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63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1145363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64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6815302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65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026035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66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0292647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67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8038145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68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2825731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69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7856598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88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5856768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89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5131219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90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674684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4B624-CBA7-45AC-987C-E86C15CC6C15}" type="slidenum">
              <a:rPr lang="cs-CZ" smtClean="0"/>
              <a:t>91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98051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DEEE32-1860-4B97-9ED4-977019515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751029B-4EAA-48D3-96D8-ED7D9017A8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A6FB87F-2FAB-45DB-B4FA-37EBE535C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2EE11-0056-4B34-9B00-A9B9AFE8C6A4}" type="datetimeFigureOut">
              <a:rPr lang="cs-CZ" smtClean="0"/>
              <a:t>26.05.2026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D0D4622-4808-4D31-B859-11E4BB01B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4E9EFEE-68AE-414A-ABA1-AF4C6AF9E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28344-8666-4157-8CDD-FB3A6D933A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0794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0BA110-7A3F-4082-9663-1756046F3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6BD8755-64F0-4CD5-A562-EAC6F8938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1DFA42C-CC9B-4BEB-9ACF-D70ACDDD5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2EE11-0056-4B34-9B00-A9B9AFE8C6A4}" type="datetimeFigureOut">
              <a:rPr lang="cs-CZ" smtClean="0"/>
              <a:t>26.05.2026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04C22FE-11C0-4459-971E-1E9049FEC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43BE87B-28DE-4884-9261-0CD14F2FF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28344-8666-4157-8CDD-FB3A6D933A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57930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A7282EB-98DE-484D-A8DD-B397D81AC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3645478-1392-4CC2-9106-613F4F481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1D063F7-C819-4920-B53C-241FA4354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2EE11-0056-4B34-9B00-A9B9AFE8C6A4}" type="datetimeFigureOut">
              <a:rPr lang="cs-CZ" smtClean="0"/>
              <a:t>26.05.2026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C39E65B-B20C-4508-993E-778894698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66B09E8-6F81-4C47-ADDB-73AB13E23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28344-8666-4157-8CDD-FB3A6D933A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05045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BCB9CF-9F32-4BFE-9DC2-AD0791231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D400274-4AD7-4F55-B962-6BC6D35B6D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6F5B9FA-871A-4563-B718-9B9E5FBE0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2EE844A-C2BA-4B4E-ABC9-85D70F5A4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2EE11-0056-4B34-9B00-A9B9AFE8C6A4}" type="datetimeFigureOut">
              <a:rPr lang="cs-CZ" smtClean="0"/>
              <a:t>26.05.2026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663901E-BA24-4A9F-AA27-6B9A1FDA8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248A639-B158-4B89-8652-9E3F5610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28344-8666-4157-8CDD-FB3A6D933A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45109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7E14D7-5D00-4D1D-B7C4-AB1D992F2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CBA5F37-BE56-4A25-86AC-F5637788C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8E5C63E-F654-4817-97C5-28AE489EB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FE303810-A284-4C4E-BCAF-A5FE9BDF64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89C94BBD-D437-4665-B40A-9E77ACB86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15580652-B20E-4CDC-BEA4-810BCC1AA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2EE11-0056-4B34-9B00-A9B9AFE8C6A4}" type="datetimeFigureOut">
              <a:rPr lang="cs-CZ" smtClean="0"/>
              <a:t>26.05.2026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F580576C-7B8E-4EBE-98AE-DFA9C5102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77053BE-58FB-4759-B7FC-F8A36304B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28344-8666-4157-8CDD-FB3A6D933A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3161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200D0B-2FEC-4125-8838-A4AC895CB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C18FAD04-74C5-4E43-8038-FC6487E4D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2EE11-0056-4B34-9B00-A9B9AFE8C6A4}" type="datetimeFigureOut">
              <a:rPr lang="cs-CZ" smtClean="0"/>
              <a:t>26.05.2026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3219EEE-7042-421E-AE5F-92370EE15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0C8235C-08AF-4AAA-BAB5-FB62F342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28344-8666-4157-8CDD-FB3A6D933A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918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A3A6146E-A072-4F17-9927-2F8BB5D3A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2EE11-0056-4B34-9B00-A9B9AFE8C6A4}" type="datetimeFigureOut">
              <a:rPr lang="cs-CZ" smtClean="0"/>
              <a:t>26.05.2026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8A099336-A81F-49D4-B9E7-62CB70C7B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E84D4D9-C796-48DF-915B-26B1569DD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28344-8666-4157-8CDD-FB3A6D933A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9736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9C1FBE-6108-40CA-B88B-4960A040F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BE6DF1C-D0FA-41EC-A7B9-D0F799BB1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89C3CAF-BB37-49F1-A965-D6929830C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E68D038-89D1-4710-A670-AD25F0E5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2EE11-0056-4B34-9B00-A9B9AFE8C6A4}" type="datetimeFigureOut">
              <a:rPr lang="cs-CZ" smtClean="0"/>
              <a:t>26.05.2026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9564E49-FEB2-4F17-8A6E-BCF61897A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3D63B7E-CAA9-4342-811C-C7EEFE24C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28344-8666-4157-8CDD-FB3A6D933A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66602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E2D611-AB2A-444E-B13D-9D3FE167C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E73C3F3-7497-4E9F-BF92-232732B680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1616452-D477-4B5F-9076-4ADE46F0E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56A8611-8608-4CCD-8860-C29861375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2EE11-0056-4B34-9B00-A9B9AFE8C6A4}" type="datetimeFigureOut">
              <a:rPr lang="cs-CZ" smtClean="0"/>
              <a:t>26.05.2026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A7229F5-2A50-4E32-BF60-138589D0A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6EADAF6-916E-4766-8E34-1A91C6019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28344-8666-4157-8CDD-FB3A6D933A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76562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F2ED53E-4FFE-460A-A6AE-6C6820179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D06F5EBE-BD13-4ED4-BBE6-FA68BBFD8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7FC8DB5-84E5-43AC-BB2D-06AFA62DA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2EE11-0056-4B34-9B00-A9B9AFE8C6A4}" type="datetimeFigureOut">
              <a:rPr lang="cs-CZ" smtClean="0"/>
              <a:t>26.05.2026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DCA4317-504A-4B28-AAED-CB9732DCC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8B6C476-16F8-4611-A8A1-02A21619E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28344-8666-4157-8CDD-FB3A6D933A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6995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1649AB2C-F897-42B1-A1FC-A498531D7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D8C4FDB1-C52D-46F7-90B5-69C7D01816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80EDB42-6405-4B58-ACF8-484CDCA05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2EE11-0056-4B34-9B00-A9B9AFE8C6A4}" type="datetimeFigureOut">
              <a:rPr lang="cs-CZ" smtClean="0"/>
              <a:t>26.05.2026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E137618-EC24-4C66-ADF7-632904214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FC1E92A-525D-4B92-81D9-B22307100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28344-8666-4157-8CDD-FB3A6D933A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94266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9885645D-FB83-4E68-B2E3-4956C5BBB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2317955-37D7-46C0-AD61-097AADFDD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F9BB4C3-1880-44C5-AEA8-8EE5493BCA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2EE11-0056-4B34-9B00-A9B9AFE8C6A4}" type="datetimeFigureOut">
              <a:rPr lang="cs-CZ" smtClean="0"/>
              <a:t>26.05.2026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EC7E237-4F38-4B40-B8D3-CD7BFA055B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F686C0E-BDE3-4819-B5F4-5234FAD78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28344-8666-4157-8CDD-FB3A6D933A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0465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B89FBB2E-F345-4035-A666-7B2D47986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7114" y="0"/>
            <a:ext cx="5252936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3833A892-AD29-4086-9FF9-F1C6B439DE64}"/>
              </a:ext>
            </a:extLst>
          </p:cNvPr>
          <p:cNvSpPr/>
          <p:nvPr/>
        </p:nvSpPr>
        <p:spPr>
          <a:xfrm>
            <a:off x="747093" y="427243"/>
            <a:ext cx="3511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hiemeArgo2011-Bold"/>
              </a:rPr>
              <a:t>Axial T2-weighted MRI of the brain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64713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B89FBB2E-F345-4035-A666-7B2D47986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877" y="0"/>
            <a:ext cx="5252936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3833A892-AD29-4086-9FF9-F1C6B439DE64}"/>
              </a:ext>
            </a:extLst>
          </p:cNvPr>
          <p:cNvSpPr/>
          <p:nvPr/>
        </p:nvSpPr>
        <p:spPr>
          <a:xfrm>
            <a:off x="747093" y="427243"/>
            <a:ext cx="3511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hiemeArgo2011-Bold"/>
              </a:rPr>
              <a:t>Axial T2-weighted MRI of the brain</a:t>
            </a:r>
            <a:endParaRPr lang="cs-CZ" dirty="0"/>
          </a:p>
        </p:txBody>
      </p:sp>
      <p:sp>
        <p:nvSpPr>
          <p:cNvPr id="2" name="Obdélník 1">
            <a:extLst>
              <a:ext uri="{FF2B5EF4-FFF2-40B4-BE49-F238E27FC236}">
                <a16:creationId xmlns:a16="http://schemas.microsoft.com/office/drawing/2014/main" id="{F0AB5ABD-9E5E-4A34-9133-81D8CCE49F48}"/>
              </a:ext>
            </a:extLst>
          </p:cNvPr>
          <p:cNvSpPr/>
          <p:nvPr/>
        </p:nvSpPr>
        <p:spPr>
          <a:xfrm>
            <a:off x="646115" y="1305341"/>
            <a:ext cx="371387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 err="1">
                <a:latin typeface="ThiemeGulliver2011-Regular"/>
              </a:rPr>
              <a:t>Fourth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ventricle</a:t>
            </a:r>
            <a:endParaRPr lang="cs-CZ" dirty="0">
              <a:latin typeface="ThiemeGulliver2011-Regular"/>
            </a:endParaRPr>
          </a:p>
          <a:p>
            <a:r>
              <a:rPr lang="en-US" dirty="0">
                <a:latin typeface="ThiemeGulliver2011-Regular"/>
              </a:rPr>
              <a:t>• The fourth ventricle is a diamond-shaped structure that lies posterior to the pons.</a:t>
            </a:r>
          </a:p>
          <a:p>
            <a:r>
              <a:rPr lang="en-US" dirty="0">
                <a:latin typeface="ThiemeGulliver2011-Regular"/>
              </a:rPr>
              <a:t>• It is connected to the third ventricle superiorly via the aqueduct of Sylvius and to the central canal of the</a:t>
            </a:r>
          </a:p>
          <a:p>
            <a:r>
              <a:rPr lang="cs-CZ" dirty="0" err="1">
                <a:latin typeface="ThiemeGulliver2011-Regular"/>
              </a:rPr>
              <a:t>spinal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cord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inferiorly</a:t>
            </a:r>
            <a:r>
              <a:rPr lang="cs-CZ" dirty="0">
                <a:latin typeface="ThiemeGulliver2011-Regular"/>
              </a:rPr>
              <a:t>.</a:t>
            </a:r>
          </a:p>
          <a:p>
            <a:r>
              <a:rPr lang="en-US" dirty="0">
                <a:latin typeface="ThiemeGulliver2011-Regular"/>
              </a:rPr>
              <a:t>• It is also connected to the basal cisterns. One median aperture called the foramen of Magendie opens</a:t>
            </a:r>
          </a:p>
          <a:p>
            <a:r>
              <a:rPr lang="en-US" dirty="0">
                <a:latin typeface="ThiemeGulliver2011-Regular"/>
              </a:rPr>
              <a:t>into the cisterna magna, whilst two lateral apertures called the foramina of Luschka open out into the</a:t>
            </a:r>
          </a:p>
          <a:p>
            <a:r>
              <a:rPr lang="cs-CZ" dirty="0" err="1">
                <a:latin typeface="ThiemeGulliver2011-Regular"/>
              </a:rPr>
              <a:t>cerebellopontine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angle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cisterns</a:t>
            </a:r>
            <a:r>
              <a:rPr lang="cs-CZ" dirty="0">
                <a:latin typeface="ThiemeGulliver2011-Regular"/>
              </a:rPr>
              <a:t>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59195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5B5786C4-C12E-4979-9FC1-9902548954E1}"/>
              </a:ext>
            </a:extLst>
          </p:cNvPr>
          <p:cNvSpPr/>
          <p:nvPr/>
        </p:nvSpPr>
        <p:spPr>
          <a:xfrm>
            <a:off x="203200" y="505123"/>
            <a:ext cx="382385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solidFill>
                  <a:srgbClr val="000000"/>
                </a:solidFill>
                <a:latin typeface="ThiemeArgo2011-Bold"/>
              </a:rPr>
              <a:t>Sagittal CT of the brain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BEC7FD8-97C9-4A6B-AAE5-D86276B35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085" y="152064"/>
            <a:ext cx="7450715" cy="655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556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5B5786C4-C12E-4979-9FC1-9902548954E1}"/>
              </a:ext>
            </a:extLst>
          </p:cNvPr>
          <p:cNvSpPr/>
          <p:nvPr/>
        </p:nvSpPr>
        <p:spPr>
          <a:xfrm>
            <a:off x="203200" y="505123"/>
            <a:ext cx="3823855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solidFill>
                  <a:srgbClr val="000000"/>
                </a:solidFill>
                <a:latin typeface="ThiemeArgo2011-Bold"/>
              </a:rPr>
              <a:t>Sagittal CT of the brain</a:t>
            </a:r>
          </a:p>
          <a:p>
            <a:r>
              <a:rPr lang="cs-CZ" b="1" dirty="0" err="1">
                <a:solidFill>
                  <a:srgbClr val="000000"/>
                </a:solidFill>
                <a:latin typeface="ThiemeGulliver2011-Bold"/>
              </a:rPr>
              <a:t>Answer</a:t>
            </a:r>
            <a:r>
              <a:rPr lang="cs-CZ" b="1" dirty="0">
                <a:solidFill>
                  <a:srgbClr val="000000"/>
                </a:solidFill>
                <a:latin typeface="ThiemeGulliver2011-Bold"/>
              </a:rPr>
              <a:t>: </a:t>
            </a:r>
            <a:r>
              <a:rPr lang="cs-CZ" dirty="0" err="1">
                <a:solidFill>
                  <a:srgbClr val="000000"/>
                </a:solidFill>
                <a:latin typeface="ThiemeGulliver2011-Regular"/>
              </a:rPr>
              <a:t>Clivus</a:t>
            </a:r>
            <a:endParaRPr lang="cs-CZ" dirty="0">
              <a:solidFill>
                <a:srgbClr val="000000"/>
              </a:solidFill>
              <a:latin typeface="ThiemeGulliver2011-Regular"/>
            </a:endParaRPr>
          </a:p>
          <a:p>
            <a:r>
              <a:rPr lang="en-US" dirty="0">
                <a:solidFill>
                  <a:srgbClr val="000000"/>
                </a:solidFill>
                <a:latin typeface="ThiemeGulliver2011-Regular"/>
              </a:rPr>
              <a:t>• Clivus is Latin for ‘slope’.</a:t>
            </a:r>
          </a:p>
          <a:p>
            <a:r>
              <a:rPr lang="en-US" dirty="0">
                <a:solidFill>
                  <a:srgbClr val="000000"/>
                </a:solidFill>
                <a:latin typeface="ThiemeGulliver2011-Regular"/>
              </a:rPr>
              <a:t>• It slopes obliquely in the midline.</a:t>
            </a:r>
          </a:p>
          <a:p>
            <a:r>
              <a:rPr lang="en-US" dirty="0">
                <a:solidFill>
                  <a:srgbClr val="000000"/>
                </a:solidFill>
                <a:latin typeface="ThiemeGulliver2011-Regular"/>
              </a:rPr>
              <a:t>• It lies posterior to the dorsum sellae and sphenoid sinus and anterior to the basilar artery and pons.</a:t>
            </a:r>
          </a:p>
          <a:p>
            <a:r>
              <a:rPr lang="en-US" dirty="0">
                <a:solidFill>
                  <a:srgbClr val="000000"/>
                </a:solidFill>
                <a:latin typeface="ThiemeGulliver2011-Regular"/>
              </a:rPr>
              <a:t>• It includes the posterior aspect of the body of the sphenoid bone and the basilar portion of the occipital</a:t>
            </a:r>
          </a:p>
          <a:p>
            <a:r>
              <a:rPr lang="cs-CZ" dirty="0">
                <a:solidFill>
                  <a:srgbClr val="000000"/>
                </a:solidFill>
                <a:latin typeface="ThiemeGulliver2011-Regular"/>
              </a:rPr>
              <a:t>bone.</a:t>
            </a:r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BEC7FD8-97C9-4A6B-AAE5-D86276B35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399" y="419584"/>
            <a:ext cx="5309419" cy="467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077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EF0A1806-A876-4B9E-9635-67EC39EAE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294" y="214149"/>
            <a:ext cx="5203548" cy="6543857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6B903194-A15B-4FE9-B913-DF176CF842F3}"/>
              </a:ext>
            </a:extLst>
          </p:cNvPr>
          <p:cNvSpPr/>
          <p:nvPr/>
        </p:nvSpPr>
        <p:spPr>
          <a:xfrm>
            <a:off x="458504" y="799713"/>
            <a:ext cx="3511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hiemeArgo2011-Bold"/>
              </a:rPr>
              <a:t>Axial T2-weighted MRI of the brain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74229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EF0A1806-A876-4B9E-9635-67EC39EAE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294" y="214149"/>
            <a:ext cx="5203548" cy="6543857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6B903194-A15B-4FE9-B913-DF176CF842F3}"/>
              </a:ext>
            </a:extLst>
          </p:cNvPr>
          <p:cNvSpPr/>
          <p:nvPr/>
        </p:nvSpPr>
        <p:spPr>
          <a:xfrm>
            <a:off x="458504" y="799713"/>
            <a:ext cx="3511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hiemeArgo2011-Bold"/>
              </a:rPr>
              <a:t>Axial T2-weighted MRI of the brain</a:t>
            </a:r>
            <a:endParaRPr lang="cs-CZ" dirty="0"/>
          </a:p>
        </p:txBody>
      </p:sp>
      <p:sp>
        <p:nvSpPr>
          <p:cNvPr id="2" name="Obdélník 1">
            <a:extLst>
              <a:ext uri="{FF2B5EF4-FFF2-40B4-BE49-F238E27FC236}">
                <a16:creationId xmlns:a16="http://schemas.microsoft.com/office/drawing/2014/main" id="{EBC933D9-08B5-4B40-9028-ED90C2BC364D}"/>
              </a:ext>
            </a:extLst>
          </p:cNvPr>
          <p:cNvSpPr/>
          <p:nvPr/>
        </p:nvSpPr>
        <p:spPr>
          <a:xfrm>
            <a:off x="458504" y="1169045"/>
            <a:ext cx="315883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 err="1">
                <a:latin typeface="ThiemeGulliver2011-Regular"/>
              </a:rPr>
              <a:t>Basilar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artery</a:t>
            </a:r>
            <a:endParaRPr lang="cs-CZ" dirty="0">
              <a:latin typeface="ThiemeGulliver2011-Regular"/>
            </a:endParaRPr>
          </a:p>
          <a:p>
            <a:r>
              <a:rPr lang="en-US" dirty="0">
                <a:latin typeface="ThiemeGulliver2011-Regular"/>
              </a:rPr>
              <a:t>• The basilar artery is a single vessel in the midline and is part of the posterior circulation.</a:t>
            </a:r>
          </a:p>
          <a:p>
            <a:r>
              <a:rPr lang="en-US" dirty="0">
                <a:latin typeface="ThiemeGulliver2011-Regular"/>
              </a:rPr>
              <a:t>• It lies posterior to the dorsum sellae and clivus and anterior to the pons.</a:t>
            </a:r>
          </a:p>
          <a:p>
            <a:r>
              <a:rPr lang="en-US" dirty="0">
                <a:latin typeface="ThiemeGulliver2011-Regular"/>
              </a:rPr>
              <a:t>• It arises from the paired vertebral arteries at the base of the pons.</a:t>
            </a:r>
          </a:p>
          <a:p>
            <a:r>
              <a:rPr lang="en-US" dirty="0">
                <a:latin typeface="ThiemeGulliver2011-Regular"/>
              </a:rPr>
              <a:t>• It gives off the following paired branches:</a:t>
            </a:r>
          </a:p>
          <a:p>
            <a:r>
              <a:rPr lang="cs-CZ" sz="800" b="0" i="0" u="none" strike="noStrike" baseline="0" dirty="0">
                <a:latin typeface="ThiemeGulliver2011-Regular"/>
              </a:rPr>
              <a:t>○ </a:t>
            </a:r>
            <a:r>
              <a:rPr lang="cs-CZ" dirty="0" err="1">
                <a:latin typeface="ThiemeGulliver2011-Regular"/>
              </a:rPr>
              <a:t>Anterior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inferior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cerebellar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artery</a:t>
            </a:r>
            <a:endParaRPr lang="cs-CZ" dirty="0">
              <a:latin typeface="ThiemeGulliver2011-Regular"/>
            </a:endParaRPr>
          </a:p>
          <a:p>
            <a:r>
              <a:rPr lang="cs-CZ" sz="800" b="0" i="0" u="none" strike="noStrike" baseline="0" dirty="0">
                <a:latin typeface="ThiemeGulliver2011-Regular"/>
              </a:rPr>
              <a:t>○ </a:t>
            </a:r>
            <a:r>
              <a:rPr lang="cs-CZ" dirty="0" err="1">
                <a:latin typeface="ThiemeGulliver2011-Regular"/>
              </a:rPr>
              <a:t>Labyrinthine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artery</a:t>
            </a:r>
            <a:r>
              <a:rPr lang="cs-CZ" dirty="0">
                <a:latin typeface="ThiemeGulliver2011-Regular"/>
              </a:rPr>
              <a:t> (</a:t>
            </a:r>
            <a:r>
              <a:rPr lang="cs-CZ" dirty="0" err="1">
                <a:latin typeface="ThiemeGulliver2011-Regular"/>
              </a:rPr>
              <a:t>variable</a:t>
            </a:r>
            <a:r>
              <a:rPr lang="cs-CZ" dirty="0">
                <a:latin typeface="ThiemeGulliver2011-Regular"/>
              </a:rPr>
              <a:t>)</a:t>
            </a:r>
          </a:p>
          <a:p>
            <a:r>
              <a:rPr lang="cs-CZ" sz="800" b="0" i="0" u="none" strike="noStrike" baseline="0" dirty="0">
                <a:latin typeface="ThiemeGulliver2011-Regular"/>
              </a:rPr>
              <a:t>○ </a:t>
            </a:r>
            <a:r>
              <a:rPr lang="cs-CZ" dirty="0" err="1">
                <a:latin typeface="ThiemeGulliver2011-Regular"/>
              </a:rPr>
              <a:t>Pontine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artery</a:t>
            </a:r>
            <a:endParaRPr lang="cs-CZ" dirty="0">
              <a:latin typeface="ThiemeGulliver2011-Regular"/>
            </a:endParaRPr>
          </a:p>
          <a:p>
            <a:r>
              <a:rPr lang="cs-CZ" sz="800" b="0" i="0" u="none" strike="noStrike" baseline="0" dirty="0">
                <a:latin typeface="ThiemeGulliver2011-Regular"/>
              </a:rPr>
              <a:t>○ </a:t>
            </a:r>
            <a:r>
              <a:rPr lang="cs-CZ" dirty="0">
                <a:latin typeface="ThiemeGulliver2011-Regular"/>
              </a:rPr>
              <a:t>Superior </a:t>
            </a:r>
            <a:r>
              <a:rPr lang="cs-CZ" dirty="0" err="1">
                <a:latin typeface="ThiemeGulliver2011-Regular"/>
              </a:rPr>
              <a:t>cerebellar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artery</a:t>
            </a:r>
            <a:endParaRPr lang="cs-CZ" dirty="0">
              <a:latin typeface="ThiemeGulliver2011-Regular"/>
            </a:endParaRPr>
          </a:p>
          <a:p>
            <a:r>
              <a:rPr lang="en-US" dirty="0">
                <a:latin typeface="ThiemeGulliver2011-Regular"/>
              </a:rPr>
              <a:t>• The basilar artery terminates at the paired posterior cerebral arteries.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09019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1D60B648-EE51-439C-B248-B5185FB2F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870" y="88214"/>
            <a:ext cx="6715487" cy="6681571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51348441-B099-4520-BC12-66E3BF0971AD}"/>
              </a:ext>
            </a:extLst>
          </p:cNvPr>
          <p:cNvSpPr/>
          <p:nvPr/>
        </p:nvSpPr>
        <p:spPr>
          <a:xfrm>
            <a:off x="0" y="1620807"/>
            <a:ext cx="37816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hiemeArgo2011-Bold"/>
              </a:rPr>
              <a:t>Coronal T1-weighted MRI of the brain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82866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1D60B648-EE51-439C-B248-B5185FB2F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870" y="88214"/>
            <a:ext cx="6715487" cy="6681571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51348441-B099-4520-BC12-66E3BF0971AD}"/>
              </a:ext>
            </a:extLst>
          </p:cNvPr>
          <p:cNvSpPr/>
          <p:nvPr/>
        </p:nvSpPr>
        <p:spPr>
          <a:xfrm>
            <a:off x="404822" y="719861"/>
            <a:ext cx="37816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hiemeArgo2011-Bold"/>
              </a:rPr>
              <a:t>Coronal T1-weighted MRI of the brain</a:t>
            </a:r>
            <a:endParaRPr lang="cs-CZ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A0A934A8-7ECF-4771-AA50-545840A20540}"/>
              </a:ext>
            </a:extLst>
          </p:cNvPr>
          <p:cNvSpPr/>
          <p:nvPr/>
        </p:nvSpPr>
        <p:spPr>
          <a:xfrm>
            <a:off x="404822" y="1342148"/>
            <a:ext cx="407481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 err="1">
                <a:latin typeface="ThiemeGulliver2011-Regular"/>
              </a:rPr>
              <a:t>Pituitary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gland</a:t>
            </a:r>
            <a:endParaRPr lang="cs-CZ" dirty="0">
              <a:latin typeface="ThiemeGulliver2011-Regular"/>
            </a:endParaRPr>
          </a:p>
          <a:p>
            <a:r>
              <a:rPr lang="en-US" dirty="0">
                <a:latin typeface="ThiemeGulliver2011-Regular"/>
              </a:rPr>
              <a:t>• The pituitary gland is harder to </a:t>
            </a:r>
            <a:r>
              <a:rPr lang="en-US" dirty="0" err="1">
                <a:latin typeface="ThiemeGulliver2011-Regular"/>
              </a:rPr>
              <a:t>recognise</a:t>
            </a:r>
            <a:r>
              <a:rPr lang="en-US" dirty="0">
                <a:latin typeface="ThiemeGulliver2011-Regular"/>
              </a:rPr>
              <a:t> on coronal images given that you will be more used to looking</a:t>
            </a:r>
          </a:p>
          <a:p>
            <a:r>
              <a:rPr lang="en-US" dirty="0">
                <a:latin typeface="ThiemeGulliver2011-Regular"/>
              </a:rPr>
              <a:t>at it on sagittal views.</a:t>
            </a:r>
          </a:p>
          <a:p>
            <a:r>
              <a:rPr lang="en-US" dirty="0">
                <a:latin typeface="ThiemeGulliver2011-Regular"/>
              </a:rPr>
              <a:t>• There are several clues that will help you identify this structure.</a:t>
            </a:r>
          </a:p>
          <a:p>
            <a:r>
              <a:rPr lang="en-US" sz="800" b="0" i="0" u="none" strike="noStrike" baseline="0" dirty="0">
                <a:latin typeface="ThiemeGulliver2011-Regular"/>
              </a:rPr>
              <a:t>○ </a:t>
            </a:r>
            <a:r>
              <a:rPr lang="en-US" dirty="0">
                <a:latin typeface="ThiemeGulliver2011-Regular"/>
              </a:rPr>
              <a:t>It sits within a depression in the sphenoid sinus—this is the </a:t>
            </a:r>
            <a:r>
              <a:rPr lang="en-US" dirty="0" err="1">
                <a:latin typeface="ThiemeGulliver2011-Regular"/>
              </a:rPr>
              <a:t>sella</a:t>
            </a:r>
            <a:r>
              <a:rPr lang="en-US" dirty="0">
                <a:latin typeface="ThiemeGulliver2011-Regular"/>
              </a:rPr>
              <a:t> turcica.</a:t>
            </a:r>
          </a:p>
          <a:p>
            <a:r>
              <a:rPr lang="en-US" sz="800" b="0" i="0" u="none" strike="noStrike" baseline="0" dirty="0">
                <a:latin typeface="ThiemeGulliver2011-Regular"/>
              </a:rPr>
              <a:t>○ </a:t>
            </a:r>
            <a:r>
              <a:rPr lang="en-US" dirty="0">
                <a:latin typeface="ThiemeGulliver2011-Regular"/>
              </a:rPr>
              <a:t>There is a stalk arising from its superior aspect—this is the infundibulum.</a:t>
            </a:r>
          </a:p>
          <a:p>
            <a:r>
              <a:rPr lang="en-US" sz="800" b="0" i="0" u="none" strike="noStrike" baseline="0" dirty="0">
                <a:latin typeface="ThiemeGulliver2011-Regular"/>
              </a:rPr>
              <a:t>○ </a:t>
            </a:r>
            <a:r>
              <a:rPr lang="en-US" dirty="0">
                <a:latin typeface="ThiemeGulliver2011-Regular"/>
              </a:rPr>
              <a:t>It is a midline structure.</a:t>
            </a:r>
          </a:p>
          <a:p>
            <a:r>
              <a:rPr lang="en-US" sz="800" b="0" i="0" u="none" strike="noStrike" baseline="0" dirty="0">
                <a:latin typeface="ThiemeGulliver2011-Regular"/>
              </a:rPr>
              <a:t>○ </a:t>
            </a:r>
            <a:r>
              <a:rPr lang="en-US" dirty="0">
                <a:latin typeface="ThiemeGulliver2011-Regular"/>
              </a:rPr>
              <a:t>The optic chiasm is superior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16309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CBDE492F-0EEE-4458-B017-79903F8E0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818" y="0"/>
            <a:ext cx="5252936" cy="6858000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185FC6C4-9371-4905-B4D1-A2F73A75C951}"/>
              </a:ext>
            </a:extLst>
          </p:cNvPr>
          <p:cNvSpPr/>
          <p:nvPr/>
        </p:nvSpPr>
        <p:spPr>
          <a:xfrm>
            <a:off x="407284" y="351844"/>
            <a:ext cx="3511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hiemeArgo2011-Bold"/>
              </a:rPr>
              <a:t>Axial T2-weighted MRI of the brain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31354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CBDE492F-0EEE-4458-B017-79903F8E0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818" y="0"/>
            <a:ext cx="5252936" cy="6858000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185FC6C4-9371-4905-B4D1-A2F73A75C951}"/>
              </a:ext>
            </a:extLst>
          </p:cNvPr>
          <p:cNvSpPr/>
          <p:nvPr/>
        </p:nvSpPr>
        <p:spPr>
          <a:xfrm>
            <a:off x="407284" y="351844"/>
            <a:ext cx="3511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hiemeArgo2011-Bold"/>
              </a:rPr>
              <a:t>Axial T2-weighted MRI of the brain</a:t>
            </a:r>
            <a:endParaRPr lang="cs-CZ"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99301770-0F40-4D1D-8CEC-B0F11123FFDA}"/>
              </a:ext>
            </a:extLst>
          </p:cNvPr>
          <p:cNvSpPr/>
          <p:nvPr/>
        </p:nvSpPr>
        <p:spPr>
          <a:xfrm>
            <a:off x="683491" y="1582110"/>
            <a:ext cx="31496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 err="1">
                <a:latin typeface="ThiemeGulliver2011-Regular"/>
              </a:rPr>
              <a:t>Interpeduncular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cistern</a:t>
            </a:r>
            <a:endParaRPr lang="cs-CZ" dirty="0">
              <a:latin typeface="ThiemeGulliver2011-Regular"/>
            </a:endParaRPr>
          </a:p>
          <a:p>
            <a:r>
              <a:rPr lang="en-US" dirty="0">
                <a:latin typeface="ThiemeGulliver2011-Regular"/>
              </a:rPr>
              <a:t>• This portion of the brainstem is the midbrain, which somewhat resembles the head of Mickey Mouse.</a:t>
            </a:r>
          </a:p>
          <a:p>
            <a:r>
              <a:rPr lang="en-US" dirty="0">
                <a:latin typeface="ThiemeGulliver2011-Regular"/>
              </a:rPr>
              <a:t>• Between the cerebral peduncles (which are the ears of Mickey Mouse) lies the interpeduncular fossa.</a:t>
            </a:r>
          </a:p>
          <a:p>
            <a:r>
              <a:rPr lang="en-US" dirty="0">
                <a:latin typeface="ThiemeGulliver2011-Regular"/>
              </a:rPr>
              <a:t>The interpeduncular cistern is located within the interpeduncular fossa.</a:t>
            </a:r>
          </a:p>
          <a:p>
            <a:r>
              <a:rPr lang="en-US" dirty="0">
                <a:latin typeface="ThiemeGulliver2011-Regular"/>
              </a:rPr>
              <a:t>• It lies posterior to the optic chiasm.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38134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D6B94341-36B6-4E53-9C1E-877AB01EE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144" y="710380"/>
            <a:ext cx="5309419" cy="5437239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0CD77157-6DB0-42B1-9D97-FD33D3AD36CE}"/>
              </a:ext>
            </a:extLst>
          </p:cNvPr>
          <p:cNvSpPr/>
          <p:nvPr/>
        </p:nvSpPr>
        <p:spPr>
          <a:xfrm>
            <a:off x="1778232" y="525714"/>
            <a:ext cx="1525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b="1" dirty="0">
                <a:latin typeface="ThiemeArgo2011-Bold"/>
              </a:rPr>
              <a:t>MR </a:t>
            </a:r>
            <a:r>
              <a:rPr lang="cs-CZ" b="1" dirty="0" err="1">
                <a:latin typeface="ThiemeArgo2011-Bold"/>
              </a:rPr>
              <a:t>venogram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6782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D6B94341-36B6-4E53-9C1E-877AB01EE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344" y="710380"/>
            <a:ext cx="5309419" cy="5437239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0CD77157-6DB0-42B1-9D97-FD33D3AD36CE}"/>
              </a:ext>
            </a:extLst>
          </p:cNvPr>
          <p:cNvSpPr/>
          <p:nvPr/>
        </p:nvSpPr>
        <p:spPr>
          <a:xfrm>
            <a:off x="1778232" y="525714"/>
            <a:ext cx="1525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b="1" dirty="0">
                <a:latin typeface="ThiemeArgo2011-Bold"/>
              </a:rPr>
              <a:t>MR </a:t>
            </a:r>
            <a:r>
              <a:rPr lang="cs-CZ" b="1" dirty="0" err="1">
                <a:latin typeface="ThiemeArgo2011-Bold"/>
              </a:rPr>
              <a:t>venogram</a:t>
            </a:r>
            <a:endParaRPr lang="cs-CZ"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785D3A09-EC6D-40AD-8901-02B30AE27220}"/>
              </a:ext>
            </a:extLst>
          </p:cNvPr>
          <p:cNvSpPr/>
          <p:nvPr/>
        </p:nvSpPr>
        <p:spPr>
          <a:xfrm>
            <a:off x="153144" y="895046"/>
            <a:ext cx="435420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 err="1">
                <a:latin typeface="ThiemeGulliver2011-Regular"/>
              </a:rPr>
              <a:t>Inferior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sagittal</a:t>
            </a:r>
            <a:r>
              <a:rPr lang="cs-CZ" dirty="0">
                <a:latin typeface="ThiemeGulliver2011-Regular"/>
              </a:rPr>
              <a:t> sinus</a:t>
            </a:r>
          </a:p>
          <a:p>
            <a:r>
              <a:rPr lang="en-US" dirty="0">
                <a:latin typeface="ThiemeGulliver2011-Regular"/>
              </a:rPr>
              <a:t>• The inferior sagittal sinus runs along the inferior border of the falx cerebri.</a:t>
            </a:r>
          </a:p>
          <a:p>
            <a:r>
              <a:rPr lang="en-US" dirty="0">
                <a:latin typeface="ThiemeGulliver2011-Regular"/>
              </a:rPr>
              <a:t>• It drains into the straight sinus, as does the great cerebral vein of Galen.</a:t>
            </a:r>
          </a:p>
          <a:p>
            <a:r>
              <a:rPr lang="en-US" dirty="0">
                <a:latin typeface="ThiemeGulliver2011-Regular"/>
              </a:rPr>
              <a:t>• It can be distinguished from the great vein by the fact that it parallels the course of the superior sagittal</a:t>
            </a:r>
          </a:p>
          <a:p>
            <a:r>
              <a:rPr lang="cs-CZ" dirty="0">
                <a:latin typeface="ThiemeGulliver2011-Regular"/>
              </a:rPr>
              <a:t>sinus.</a:t>
            </a:r>
          </a:p>
          <a:p>
            <a:r>
              <a:rPr lang="en-US" dirty="0">
                <a:latin typeface="ThiemeGulliver2011-Regular"/>
              </a:rPr>
              <a:t>• The figure below shows the main </a:t>
            </a:r>
            <a:r>
              <a:rPr lang="en-US" dirty="0" err="1">
                <a:latin typeface="ThiemeGulliver2011-Regular"/>
              </a:rPr>
              <a:t>dural</a:t>
            </a:r>
            <a:r>
              <a:rPr lang="en-US" dirty="0">
                <a:latin typeface="ThiemeGulliver2011-Regular"/>
              </a:rPr>
              <a:t> venous sinuses.</a:t>
            </a:r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CDDFD30B-BB68-4C9A-AAF5-81FC5539B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0894" y="3718678"/>
            <a:ext cx="3475106" cy="31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978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0E001A2D-AEE0-4EBC-9677-C0D858633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3703"/>
            <a:ext cx="5641332" cy="6524571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8F3AD7A0-6E56-46CC-8929-DCE7E8D52B62}"/>
              </a:ext>
            </a:extLst>
          </p:cNvPr>
          <p:cNvSpPr/>
          <p:nvPr/>
        </p:nvSpPr>
        <p:spPr>
          <a:xfrm>
            <a:off x="249381" y="590750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CT of the brain</a:t>
            </a:r>
          </a:p>
        </p:txBody>
      </p:sp>
    </p:spTree>
    <p:extLst>
      <p:ext uri="{BB962C8B-B14F-4D97-AF65-F5344CB8AC3E}">
        <p14:creationId xmlns:p14="http://schemas.microsoft.com/office/powerpoint/2010/main" val="2674274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0E001A2D-AEE0-4EBC-9677-C0D858633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261" y="166714"/>
            <a:ext cx="5641332" cy="6524571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8F3AD7A0-6E56-46CC-8929-DCE7E8D52B62}"/>
              </a:ext>
            </a:extLst>
          </p:cNvPr>
          <p:cNvSpPr/>
          <p:nvPr/>
        </p:nvSpPr>
        <p:spPr>
          <a:xfrm>
            <a:off x="350982" y="720060"/>
            <a:ext cx="6096000" cy="236988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CT of the brain</a:t>
            </a:r>
          </a:p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 err="1">
                <a:latin typeface="ThiemeGulliver2011-Regular"/>
              </a:rPr>
              <a:t>Interhemispheric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fissure</a:t>
            </a:r>
            <a:endParaRPr lang="cs-CZ" dirty="0">
              <a:latin typeface="ThiemeGulliver2011-Regular"/>
            </a:endParaRPr>
          </a:p>
          <a:p>
            <a:r>
              <a:rPr lang="en-US" dirty="0">
                <a:latin typeface="ThiemeGulliver2011-Regular"/>
              </a:rPr>
              <a:t>• An interhemispheric fissure is a deep groove running from anterior to posterior in the midline that</a:t>
            </a:r>
          </a:p>
          <a:p>
            <a:r>
              <a:rPr lang="en-US" dirty="0">
                <a:latin typeface="ThiemeGulliver2011-Regular"/>
              </a:rPr>
              <a:t>separates the left and right cerebral hemispheres.</a:t>
            </a:r>
          </a:p>
          <a:p>
            <a:r>
              <a:rPr lang="en-US" dirty="0">
                <a:latin typeface="ThiemeGulliver2011-Regular"/>
              </a:rPr>
              <a:t>• The falx cerebri runs through the fissure as shown in the image.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77236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1FD86D9F-E377-409F-BA3F-D029FE029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669" y="193985"/>
            <a:ext cx="5084983" cy="6548843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0CBFB2E5-26DD-49DA-9634-6BE766C7F0DF}"/>
              </a:ext>
            </a:extLst>
          </p:cNvPr>
          <p:cNvSpPr/>
          <p:nvPr/>
        </p:nvSpPr>
        <p:spPr>
          <a:xfrm>
            <a:off x="472751" y="1060665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CT of the brain</a:t>
            </a:r>
          </a:p>
        </p:txBody>
      </p:sp>
    </p:spTree>
    <p:extLst>
      <p:ext uri="{BB962C8B-B14F-4D97-AF65-F5344CB8AC3E}">
        <p14:creationId xmlns:p14="http://schemas.microsoft.com/office/powerpoint/2010/main" val="4256954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1FD86D9F-E377-409F-BA3F-D029FE029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669" y="193985"/>
            <a:ext cx="5084983" cy="6548843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0CBFB2E5-26DD-49DA-9634-6BE766C7F0DF}"/>
              </a:ext>
            </a:extLst>
          </p:cNvPr>
          <p:cNvSpPr/>
          <p:nvPr/>
        </p:nvSpPr>
        <p:spPr>
          <a:xfrm>
            <a:off x="472751" y="1060665"/>
            <a:ext cx="6096000" cy="264687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CT of the brain</a:t>
            </a:r>
          </a:p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 err="1">
                <a:latin typeface="ThiemeGulliver2011-Regular"/>
              </a:rPr>
              <a:t>Third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ventricle</a:t>
            </a:r>
            <a:endParaRPr lang="cs-CZ" dirty="0">
              <a:latin typeface="ThiemeGulliver2011-Regular"/>
            </a:endParaRPr>
          </a:p>
          <a:p>
            <a:r>
              <a:rPr lang="en-US" dirty="0">
                <a:latin typeface="ThiemeGulliver2011-Regular"/>
              </a:rPr>
              <a:t>• The third ventricle is a </a:t>
            </a:r>
            <a:r>
              <a:rPr lang="en-US" dirty="0" err="1">
                <a:latin typeface="ThiemeGulliver2011-Regular"/>
              </a:rPr>
              <a:t>slitlike</a:t>
            </a:r>
            <a:r>
              <a:rPr lang="en-US" dirty="0">
                <a:latin typeface="ThiemeGulliver2011-Regular"/>
              </a:rPr>
              <a:t> structure in the midline that is filled with cerebrospinal fluid.</a:t>
            </a:r>
          </a:p>
          <a:p>
            <a:r>
              <a:rPr lang="en-US" dirty="0">
                <a:latin typeface="ThiemeGulliver2011-Regular"/>
              </a:rPr>
              <a:t>• It is connected to the lateral ventricles by the foramina of </a:t>
            </a:r>
            <a:r>
              <a:rPr lang="en-US" dirty="0" err="1">
                <a:latin typeface="ThiemeGulliver2011-Regular"/>
              </a:rPr>
              <a:t>Monro</a:t>
            </a:r>
            <a:r>
              <a:rPr lang="en-US" dirty="0">
                <a:latin typeface="ThiemeGulliver2011-Regular"/>
              </a:rPr>
              <a:t> and to the fourth ventricle by the aqueduct</a:t>
            </a:r>
          </a:p>
          <a:p>
            <a:r>
              <a:rPr lang="cs-CZ" dirty="0" err="1">
                <a:latin typeface="ThiemeGulliver2011-Regular"/>
              </a:rPr>
              <a:t>of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Sylvius</a:t>
            </a:r>
            <a:r>
              <a:rPr lang="cs-CZ" dirty="0">
                <a:latin typeface="ThiemeGulliver2011-Regular"/>
              </a:rPr>
              <a:t>.</a:t>
            </a:r>
          </a:p>
          <a:p>
            <a:r>
              <a:rPr lang="en-US" dirty="0">
                <a:latin typeface="ThiemeGulliver2011-Regular"/>
              </a:rPr>
              <a:t>• The thalami sit on either side of the third ventricle.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88919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ED79922A-7E7E-43FC-976A-BF8C949E8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218" y="263311"/>
            <a:ext cx="5271878" cy="6496658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6E682245-3DDE-43A7-BC77-3B693F63D821}"/>
              </a:ext>
            </a:extLst>
          </p:cNvPr>
          <p:cNvSpPr/>
          <p:nvPr/>
        </p:nvSpPr>
        <p:spPr>
          <a:xfrm>
            <a:off x="360218" y="1428284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T2-weighted MRI of the brain</a:t>
            </a:r>
          </a:p>
        </p:txBody>
      </p:sp>
    </p:spTree>
    <p:extLst>
      <p:ext uri="{BB962C8B-B14F-4D97-AF65-F5344CB8AC3E}">
        <p14:creationId xmlns:p14="http://schemas.microsoft.com/office/powerpoint/2010/main" val="1923689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ED79922A-7E7E-43FC-976A-BF8C949E8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218" y="263311"/>
            <a:ext cx="5271878" cy="6496658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6E682245-3DDE-43A7-BC77-3B693F63D821}"/>
              </a:ext>
            </a:extLst>
          </p:cNvPr>
          <p:cNvSpPr/>
          <p:nvPr/>
        </p:nvSpPr>
        <p:spPr>
          <a:xfrm>
            <a:off x="360218" y="1428284"/>
            <a:ext cx="6096000" cy="298543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T2-weighted MRI of the brain</a:t>
            </a:r>
          </a:p>
          <a:p>
            <a:r>
              <a:rPr lang="en-US" b="1" dirty="0">
                <a:latin typeface="ThiemeGulliver2011-Bold"/>
              </a:rPr>
              <a:t>Answer: </a:t>
            </a:r>
            <a:r>
              <a:rPr lang="en-US" dirty="0">
                <a:latin typeface="ThiemeGulliver2011-Regular"/>
              </a:rPr>
              <a:t>Head of the left caudate nucleus</a:t>
            </a:r>
          </a:p>
          <a:p>
            <a:r>
              <a:rPr lang="en-US" dirty="0">
                <a:latin typeface="ThiemeGulliver2011-Regular"/>
              </a:rPr>
              <a:t>• The caudate nucleus lies lateral to the frontal horn of the lateral ventricle and medial to the internal</a:t>
            </a:r>
          </a:p>
          <a:p>
            <a:r>
              <a:rPr lang="cs-CZ" dirty="0" err="1">
                <a:latin typeface="ThiemeGulliver2011-Regular"/>
              </a:rPr>
              <a:t>capsule</a:t>
            </a:r>
            <a:r>
              <a:rPr lang="cs-CZ" dirty="0">
                <a:latin typeface="ThiemeGulliver2011-Regular"/>
              </a:rPr>
              <a:t>.</a:t>
            </a:r>
          </a:p>
          <a:p>
            <a:r>
              <a:rPr lang="en-US" dirty="0">
                <a:latin typeface="ThiemeGulliver2011-Regular"/>
              </a:rPr>
              <a:t>• The caudate consists of the head, body, and tail (posterior).</a:t>
            </a:r>
          </a:p>
          <a:p>
            <a:r>
              <a:rPr lang="cs-CZ" dirty="0">
                <a:latin typeface="ThiemeGulliver2011-Regular"/>
              </a:rPr>
              <a:t>• </a:t>
            </a:r>
            <a:r>
              <a:rPr lang="cs-CZ" dirty="0" err="1">
                <a:latin typeface="ThiemeGulliver2011-Regular"/>
              </a:rPr>
              <a:t>Putamen</a:t>
            </a:r>
            <a:r>
              <a:rPr lang="cs-CZ" dirty="0">
                <a:latin typeface="ThiemeGulliver2011-Regular"/>
              </a:rPr>
              <a:t> + </a:t>
            </a:r>
            <a:r>
              <a:rPr lang="cs-CZ" dirty="0" err="1">
                <a:latin typeface="ThiemeGulliver2011-Regular"/>
              </a:rPr>
              <a:t>caudate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nucleus</a:t>
            </a:r>
            <a:r>
              <a:rPr lang="cs-CZ" dirty="0">
                <a:latin typeface="ThiemeGulliver2011-Regular"/>
              </a:rPr>
              <a:t> = </a:t>
            </a:r>
            <a:r>
              <a:rPr lang="cs-CZ" dirty="0" err="1">
                <a:latin typeface="ThiemeGulliver2011-Regular"/>
              </a:rPr>
              <a:t>striatum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84953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41CB6245-DDD5-44A4-94C7-393356C4A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351" y="1120224"/>
            <a:ext cx="5309419" cy="4001729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3A14DD43-93F9-48DC-AB24-FFD2C8ED1DCF}"/>
              </a:ext>
            </a:extLst>
          </p:cNvPr>
          <p:cNvSpPr/>
          <p:nvPr/>
        </p:nvSpPr>
        <p:spPr>
          <a:xfrm>
            <a:off x="416767" y="1279650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CT of the neck</a:t>
            </a:r>
          </a:p>
        </p:txBody>
      </p:sp>
    </p:spTree>
    <p:extLst>
      <p:ext uri="{BB962C8B-B14F-4D97-AF65-F5344CB8AC3E}">
        <p14:creationId xmlns:p14="http://schemas.microsoft.com/office/powerpoint/2010/main" val="1662279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41CB6245-DDD5-44A4-94C7-393356C4A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351" y="1120224"/>
            <a:ext cx="5309419" cy="4001729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3A14DD43-93F9-48DC-AB24-FFD2C8ED1DCF}"/>
              </a:ext>
            </a:extLst>
          </p:cNvPr>
          <p:cNvSpPr/>
          <p:nvPr/>
        </p:nvSpPr>
        <p:spPr>
          <a:xfrm>
            <a:off x="416767" y="1279650"/>
            <a:ext cx="6096000" cy="34778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CT of the neck</a:t>
            </a:r>
          </a:p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 err="1">
                <a:latin typeface="ThiemeGulliver2011-Regular"/>
              </a:rPr>
              <a:t>Thyroid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cartilage</a:t>
            </a:r>
            <a:endParaRPr lang="cs-CZ" dirty="0">
              <a:latin typeface="ThiemeGulliver2011-Regular"/>
            </a:endParaRPr>
          </a:p>
          <a:p>
            <a:r>
              <a:rPr lang="en-US" dirty="0">
                <a:latin typeface="ThiemeGulliver2011-Regular"/>
              </a:rPr>
              <a:t>• When viewed anteriorly, the thyroid cartilage is a shield-shaped structure that is composed of two flat</a:t>
            </a:r>
          </a:p>
          <a:p>
            <a:r>
              <a:rPr lang="en-US" dirty="0">
                <a:latin typeface="ThiemeGulliver2011-Regular"/>
              </a:rPr>
              <a:t>plates (laminae) that converge in the midline to form the laryngeal prominence.</a:t>
            </a:r>
          </a:p>
          <a:p>
            <a:r>
              <a:rPr lang="en-US" dirty="0">
                <a:latin typeface="ThiemeGulliver2011-Regular"/>
              </a:rPr>
              <a:t>• The epiglottis is attached to the inner surface of the thyroid cartilage at the midline.</a:t>
            </a:r>
          </a:p>
          <a:p>
            <a:r>
              <a:rPr lang="en-US" dirty="0">
                <a:latin typeface="ThiemeGulliver2011-Regular"/>
              </a:rPr>
              <a:t>• Extending from the posterior border of each lamina are superior and inferior horns to which numerous</a:t>
            </a:r>
          </a:p>
          <a:p>
            <a:r>
              <a:rPr lang="en-US" dirty="0">
                <a:latin typeface="ThiemeGulliver2011-Regular"/>
              </a:rPr>
              <a:t>muscles of the larynx attach.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34562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5408B708-D8FD-4097-BB26-4688D1851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741" y="287724"/>
            <a:ext cx="6537259" cy="6570276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356AFCC6-6180-418E-9476-1A23157D4F12}"/>
              </a:ext>
            </a:extLst>
          </p:cNvPr>
          <p:cNvSpPr/>
          <p:nvPr/>
        </p:nvSpPr>
        <p:spPr>
          <a:xfrm>
            <a:off x="120073" y="1259145"/>
            <a:ext cx="495992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solidFill>
                  <a:srgbClr val="000000"/>
                </a:solidFill>
                <a:latin typeface="ThiemeArgo2011-Bold"/>
              </a:rPr>
              <a:t>Axial CT of the skull base</a:t>
            </a:r>
          </a:p>
        </p:txBody>
      </p:sp>
    </p:spTree>
    <p:extLst>
      <p:ext uri="{BB962C8B-B14F-4D97-AF65-F5344CB8AC3E}">
        <p14:creationId xmlns:p14="http://schemas.microsoft.com/office/powerpoint/2010/main" val="2460673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5408B708-D8FD-4097-BB26-4688D1851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741" y="287724"/>
            <a:ext cx="6537259" cy="6570276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356AFCC6-6180-418E-9476-1A23157D4F12}"/>
              </a:ext>
            </a:extLst>
          </p:cNvPr>
          <p:cNvSpPr/>
          <p:nvPr/>
        </p:nvSpPr>
        <p:spPr>
          <a:xfrm>
            <a:off x="120073" y="1259145"/>
            <a:ext cx="5534668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solidFill>
                  <a:srgbClr val="000000"/>
                </a:solidFill>
                <a:latin typeface="ThiemeArgo2011-Bold"/>
              </a:rPr>
              <a:t>Axial CT of the skull base</a:t>
            </a:r>
          </a:p>
          <a:p>
            <a:r>
              <a:rPr lang="cs-CZ" b="1" dirty="0" err="1">
                <a:solidFill>
                  <a:srgbClr val="000000"/>
                </a:solidFill>
                <a:latin typeface="ThiemeGulliver2011-Bold"/>
              </a:rPr>
              <a:t>Answer</a:t>
            </a:r>
            <a:r>
              <a:rPr lang="cs-CZ" b="1" dirty="0">
                <a:solidFill>
                  <a:srgbClr val="000000"/>
                </a:solidFill>
                <a:latin typeface="ThiemeGulliver2011-Bold"/>
              </a:rPr>
              <a:t>: </a:t>
            </a:r>
            <a:r>
              <a:rPr lang="cs-CZ" dirty="0" err="1">
                <a:solidFill>
                  <a:srgbClr val="000000"/>
                </a:solidFill>
                <a:latin typeface="ThiemeGulliver2011-Regular"/>
              </a:rPr>
              <a:t>Right</a:t>
            </a:r>
            <a:r>
              <a:rPr lang="cs-CZ" dirty="0">
                <a:solidFill>
                  <a:srgbClr val="000000"/>
                </a:solidFill>
                <a:latin typeface="ThiemeGulliver2011-Regular"/>
              </a:rPr>
              <a:t> </a:t>
            </a:r>
            <a:r>
              <a:rPr lang="cs-CZ" dirty="0" err="1">
                <a:solidFill>
                  <a:srgbClr val="000000"/>
                </a:solidFill>
                <a:latin typeface="ThiemeGulliver2011-Regular"/>
              </a:rPr>
              <a:t>styloid</a:t>
            </a:r>
            <a:r>
              <a:rPr lang="cs-CZ" dirty="0">
                <a:solidFill>
                  <a:srgbClr val="000000"/>
                </a:solidFill>
                <a:latin typeface="ThiemeGulliver2011-Regular"/>
              </a:rPr>
              <a:t> </a:t>
            </a:r>
            <a:r>
              <a:rPr lang="cs-CZ" dirty="0" err="1">
                <a:solidFill>
                  <a:srgbClr val="000000"/>
                </a:solidFill>
                <a:latin typeface="ThiemeGulliver2011-Regular"/>
              </a:rPr>
              <a:t>process</a:t>
            </a:r>
            <a:endParaRPr lang="cs-CZ" dirty="0">
              <a:solidFill>
                <a:srgbClr val="000000"/>
              </a:solidFill>
              <a:latin typeface="ThiemeGulliver2011-Regular"/>
            </a:endParaRPr>
          </a:p>
          <a:p>
            <a:r>
              <a:rPr lang="en-US" dirty="0">
                <a:solidFill>
                  <a:srgbClr val="000000"/>
                </a:solidFill>
                <a:latin typeface="ThiemeGulliver2011-Regular"/>
              </a:rPr>
              <a:t>• The styloid process is a long and slender projection of the petrous temporal bone.</a:t>
            </a:r>
          </a:p>
          <a:p>
            <a:r>
              <a:rPr lang="en-US" dirty="0">
                <a:solidFill>
                  <a:srgbClr val="000000"/>
                </a:solidFill>
                <a:latin typeface="ThiemeGulliver2011-Regular"/>
              </a:rPr>
              <a:t>• It is the site of attachment of three muscles: the styloglossus, stylohyoid, and stylopharyngeus.</a:t>
            </a:r>
          </a:p>
          <a:p>
            <a:r>
              <a:rPr lang="en-US" dirty="0">
                <a:solidFill>
                  <a:srgbClr val="000000"/>
                </a:solidFill>
                <a:latin typeface="ThiemeGulliver2011-Regular"/>
              </a:rPr>
              <a:t>• On axial imaging, the styloid process appears as a small, rounded segment of bone between the ramus</a:t>
            </a:r>
          </a:p>
          <a:p>
            <a:r>
              <a:rPr lang="en-US" dirty="0">
                <a:solidFill>
                  <a:srgbClr val="000000"/>
                </a:solidFill>
                <a:latin typeface="ThiemeGulliver2011-Regular"/>
              </a:rPr>
              <a:t>of the mandible anteriorly and the mastoid air cells posteriorly.</a:t>
            </a:r>
          </a:p>
        </p:txBody>
      </p:sp>
    </p:spTree>
    <p:extLst>
      <p:ext uri="{BB962C8B-B14F-4D97-AF65-F5344CB8AC3E}">
        <p14:creationId xmlns:p14="http://schemas.microsoft.com/office/powerpoint/2010/main" val="666663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B5DF8DED-9864-4C50-AC66-33F5CCFF5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412" y="165191"/>
            <a:ext cx="5476869" cy="6583308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7A1A4DAD-AAB9-4D88-B539-53BBA6D8F380}"/>
              </a:ext>
            </a:extLst>
          </p:cNvPr>
          <p:cNvSpPr/>
          <p:nvPr/>
        </p:nvSpPr>
        <p:spPr>
          <a:xfrm>
            <a:off x="491412" y="769823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CT of the brain</a:t>
            </a:r>
          </a:p>
        </p:txBody>
      </p:sp>
    </p:spTree>
    <p:extLst>
      <p:ext uri="{BB962C8B-B14F-4D97-AF65-F5344CB8AC3E}">
        <p14:creationId xmlns:p14="http://schemas.microsoft.com/office/powerpoint/2010/main" val="40073850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B5DF8DED-9864-4C50-AC66-33F5CCFF5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412" y="165191"/>
            <a:ext cx="5476869" cy="6583308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7A1A4DAD-AAB9-4D88-B539-53BBA6D8F380}"/>
              </a:ext>
            </a:extLst>
          </p:cNvPr>
          <p:cNvSpPr/>
          <p:nvPr/>
        </p:nvSpPr>
        <p:spPr>
          <a:xfrm>
            <a:off x="491412" y="769823"/>
            <a:ext cx="6096000" cy="236988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CT of the brain</a:t>
            </a:r>
          </a:p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 err="1">
                <a:latin typeface="ThiemeGulliver2011-Regular"/>
              </a:rPr>
              <a:t>Right</a:t>
            </a:r>
            <a:r>
              <a:rPr lang="cs-CZ" dirty="0">
                <a:latin typeface="ThiemeGulliver2011-Regular"/>
              </a:rPr>
              <a:t> thalamus</a:t>
            </a:r>
          </a:p>
          <a:p>
            <a:r>
              <a:rPr lang="en-US" dirty="0">
                <a:latin typeface="ThiemeGulliver2011-Regular"/>
              </a:rPr>
              <a:t>• The thalamus is a paired, walnut-shaped, deep grey matter multinuclear structure that lies on either</a:t>
            </a:r>
          </a:p>
          <a:p>
            <a:r>
              <a:rPr lang="en-US" dirty="0">
                <a:latin typeface="ThiemeGulliver2011-Regular"/>
              </a:rPr>
              <a:t>side of the third ventricle and anterior to the occipital horn of the lateral ventricles.</a:t>
            </a:r>
          </a:p>
          <a:p>
            <a:r>
              <a:rPr lang="en-US" dirty="0">
                <a:latin typeface="ThiemeGulliver2011-Regular"/>
              </a:rPr>
              <a:t>• It acts as a sensory and motor synaptic relay </a:t>
            </a:r>
            <a:r>
              <a:rPr lang="en-US" dirty="0" err="1">
                <a:latin typeface="ThiemeGulliver2011-Regular"/>
              </a:rPr>
              <a:t>centre</a:t>
            </a:r>
            <a:r>
              <a:rPr lang="en-US" dirty="0">
                <a:latin typeface="ThiemeGulliver2011-Regular"/>
              </a:rPr>
              <a:t>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550448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4059B074-9CDF-4790-84AD-C8163F9F0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2694"/>
            <a:ext cx="6001550" cy="6592612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151D09D6-758A-4216-B6D8-96169B2E95B6}"/>
              </a:ext>
            </a:extLst>
          </p:cNvPr>
          <p:cNvSpPr/>
          <p:nvPr/>
        </p:nvSpPr>
        <p:spPr>
          <a:xfrm>
            <a:off x="249382" y="1080415"/>
            <a:ext cx="561570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CT of the brain</a:t>
            </a:r>
          </a:p>
        </p:txBody>
      </p:sp>
    </p:spTree>
    <p:extLst>
      <p:ext uri="{BB962C8B-B14F-4D97-AF65-F5344CB8AC3E}">
        <p14:creationId xmlns:p14="http://schemas.microsoft.com/office/powerpoint/2010/main" val="16796953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4059B074-9CDF-4790-84AD-C8163F9F0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2694"/>
            <a:ext cx="6001550" cy="6592612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151D09D6-758A-4216-B6D8-96169B2E95B6}"/>
              </a:ext>
            </a:extLst>
          </p:cNvPr>
          <p:cNvSpPr/>
          <p:nvPr/>
        </p:nvSpPr>
        <p:spPr>
          <a:xfrm>
            <a:off x="249382" y="1080415"/>
            <a:ext cx="5615709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CT of the brain</a:t>
            </a:r>
          </a:p>
          <a:p>
            <a:r>
              <a:rPr lang="en-US" b="1" dirty="0">
                <a:latin typeface="ThiemeGulliver2011-Bold"/>
              </a:rPr>
              <a:t>Answer: </a:t>
            </a:r>
            <a:r>
              <a:rPr lang="en-US" dirty="0">
                <a:latin typeface="ThiemeGulliver2011-Regular"/>
              </a:rPr>
              <a:t>Left central sulcus of Rolando</a:t>
            </a:r>
          </a:p>
          <a:p>
            <a:r>
              <a:rPr lang="en-US" dirty="0">
                <a:latin typeface="ThiemeGulliver2011-Regular"/>
              </a:rPr>
              <a:t>• The central sulcus of Rolando is identifiable on an axial CT as the most crooked horizontal fissure resembling</a:t>
            </a:r>
          </a:p>
          <a:p>
            <a:r>
              <a:rPr lang="en-US" dirty="0">
                <a:latin typeface="ThiemeGulliver2011-Regular"/>
              </a:rPr>
              <a:t>an upside down omega (Ω).</a:t>
            </a:r>
          </a:p>
          <a:p>
            <a:r>
              <a:rPr lang="en-US" dirty="0">
                <a:latin typeface="ThiemeGulliver2011-Regular"/>
              </a:rPr>
              <a:t>• It separates the frontal lobe from the parietal lobe posteriorly.</a:t>
            </a:r>
          </a:p>
          <a:p>
            <a:r>
              <a:rPr lang="en-US" dirty="0">
                <a:latin typeface="ThiemeGulliver2011-Regular"/>
              </a:rPr>
              <a:t>• The precentral gyrus (anterior) is involved with motor control; the postcentral gyrus (posterior) is involved</a:t>
            </a:r>
          </a:p>
          <a:p>
            <a:r>
              <a:rPr lang="cs-CZ" dirty="0" err="1">
                <a:latin typeface="ThiemeGulliver2011-Regular"/>
              </a:rPr>
              <a:t>with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sensation</a:t>
            </a:r>
            <a:r>
              <a:rPr lang="cs-CZ" dirty="0">
                <a:latin typeface="ThiemeGulliver2011-Regular"/>
              </a:rPr>
              <a:t>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154290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A54AFD09-B685-484E-8C2E-8BED4DFD57FC}"/>
              </a:ext>
            </a:extLst>
          </p:cNvPr>
          <p:cNvSpPr/>
          <p:nvPr/>
        </p:nvSpPr>
        <p:spPr>
          <a:xfrm>
            <a:off x="304800" y="720153"/>
            <a:ext cx="371301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Coronal MRI of the brain</a:t>
            </a: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FA93F90D-71FC-465F-8E71-4E2C767D1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109" y="122582"/>
            <a:ext cx="5791200" cy="678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1433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A54AFD09-B685-484E-8C2E-8BED4DFD57FC}"/>
              </a:ext>
            </a:extLst>
          </p:cNvPr>
          <p:cNvSpPr/>
          <p:nvPr/>
        </p:nvSpPr>
        <p:spPr>
          <a:xfrm>
            <a:off x="304800" y="720153"/>
            <a:ext cx="3713018" cy="492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Coronal MRI of the brain</a:t>
            </a:r>
          </a:p>
          <a:p>
            <a:r>
              <a:rPr lang="en-US" b="1" dirty="0">
                <a:latin typeface="ThiemeGulliver2011-Bold"/>
              </a:rPr>
              <a:t>Answer: </a:t>
            </a:r>
            <a:r>
              <a:rPr lang="en-US" dirty="0">
                <a:latin typeface="ThiemeGulliver2011-Regular"/>
              </a:rPr>
              <a:t>Left Sylvian fissure (lateral sulcus)</a:t>
            </a:r>
          </a:p>
          <a:p>
            <a:r>
              <a:rPr lang="en-US" dirty="0">
                <a:latin typeface="ThiemeGulliver2011-Regular"/>
              </a:rPr>
              <a:t>• The Sylvian fissure is easily identifiable as the deepest and most prominent paired cortical sulcus.</a:t>
            </a:r>
          </a:p>
          <a:p>
            <a:r>
              <a:rPr lang="en-US" dirty="0">
                <a:latin typeface="ThiemeGulliver2011-Regular"/>
              </a:rPr>
              <a:t>• It separates the frontal and parietal lobes from the temporal lobe inferiorly.</a:t>
            </a:r>
          </a:p>
          <a:p>
            <a:r>
              <a:rPr lang="en-US" dirty="0">
                <a:latin typeface="ThiemeGulliver2011-Regular"/>
              </a:rPr>
              <a:t>• The Sylvian fissure is lateral to the insular gyrus.</a:t>
            </a:r>
          </a:p>
          <a:p>
            <a:r>
              <a:rPr lang="en-US" dirty="0">
                <a:latin typeface="ThiemeGulliver2011-Regular"/>
              </a:rPr>
              <a:t>• It contains the M1 and M2 segments of the middle cerebral artery.</a:t>
            </a:r>
            <a:endParaRPr lang="cs-CZ" dirty="0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FA93F90D-71FC-465F-8E71-4E2C767D1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109" y="122582"/>
            <a:ext cx="5791200" cy="678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8761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781FE8A6-6E83-4F03-A416-44AF95484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055" y="165435"/>
            <a:ext cx="6056968" cy="6561716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447BC69A-E792-442E-8DDC-1D069B569857}"/>
              </a:ext>
            </a:extLst>
          </p:cNvPr>
          <p:cNvSpPr/>
          <p:nvPr/>
        </p:nvSpPr>
        <p:spPr>
          <a:xfrm>
            <a:off x="175491" y="646354"/>
            <a:ext cx="488603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0" b="1" i="0" u="none" strike="noStrike" baseline="0" dirty="0">
                <a:latin typeface="ThiemeArgo2011-Bold"/>
              </a:rPr>
              <a:t>MR </a:t>
            </a:r>
            <a:r>
              <a:rPr lang="cs-CZ" sz="4000" b="1" i="0" u="none" strike="noStrike" baseline="0" dirty="0" err="1">
                <a:latin typeface="ThiemeArgo2011-Bold"/>
              </a:rPr>
              <a:t>venogram</a:t>
            </a:r>
            <a:r>
              <a:rPr lang="cs-CZ" sz="4000" b="1" i="0" u="none" strike="noStrike" baseline="0" dirty="0">
                <a:latin typeface="ThiemeArgo2011-Bold"/>
              </a:rPr>
              <a:t> (MIP image)</a:t>
            </a:r>
          </a:p>
        </p:txBody>
      </p:sp>
    </p:spTree>
    <p:extLst>
      <p:ext uri="{BB962C8B-B14F-4D97-AF65-F5344CB8AC3E}">
        <p14:creationId xmlns:p14="http://schemas.microsoft.com/office/powerpoint/2010/main" val="11015752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781FE8A6-6E83-4F03-A416-44AF95484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055" y="165435"/>
            <a:ext cx="6056968" cy="6561716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447BC69A-E792-442E-8DDC-1D069B569857}"/>
              </a:ext>
            </a:extLst>
          </p:cNvPr>
          <p:cNvSpPr/>
          <p:nvPr/>
        </p:nvSpPr>
        <p:spPr>
          <a:xfrm>
            <a:off x="175491" y="646354"/>
            <a:ext cx="4886036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0" b="1" i="0" u="none" strike="noStrike" baseline="0" dirty="0">
                <a:latin typeface="ThiemeArgo2011-Bold"/>
              </a:rPr>
              <a:t>MR </a:t>
            </a:r>
            <a:r>
              <a:rPr lang="cs-CZ" sz="4000" b="1" i="0" u="none" strike="noStrike" baseline="0" dirty="0" err="1">
                <a:latin typeface="ThiemeArgo2011-Bold"/>
              </a:rPr>
              <a:t>venogram</a:t>
            </a:r>
            <a:r>
              <a:rPr lang="cs-CZ" sz="4000" b="1" i="0" u="none" strike="noStrike" baseline="0" dirty="0">
                <a:latin typeface="ThiemeArgo2011-Bold"/>
              </a:rPr>
              <a:t> (MIP image)</a:t>
            </a:r>
          </a:p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>
                <a:latin typeface="ThiemeGulliver2011-Regular"/>
              </a:rPr>
              <a:t>Superior </a:t>
            </a:r>
            <a:r>
              <a:rPr lang="cs-CZ" dirty="0" err="1">
                <a:latin typeface="ThiemeGulliver2011-Regular"/>
              </a:rPr>
              <a:t>sagittal</a:t>
            </a:r>
            <a:r>
              <a:rPr lang="cs-CZ" dirty="0">
                <a:latin typeface="ThiemeGulliver2011-Regular"/>
              </a:rPr>
              <a:t> sinus</a:t>
            </a:r>
          </a:p>
          <a:p>
            <a:r>
              <a:rPr lang="en-US" dirty="0">
                <a:latin typeface="ThiemeGulliver2011-Regular"/>
              </a:rPr>
              <a:t>• The superior sagittal sinus is part of the venous drainage system of the brain.</a:t>
            </a:r>
          </a:p>
          <a:p>
            <a:r>
              <a:rPr lang="en-US" dirty="0">
                <a:latin typeface="ThiemeGulliver2011-Regular"/>
              </a:rPr>
              <a:t>• The superior sagittal sinus travels from anteriorly to posteriorly within the falx cerebri.</a:t>
            </a:r>
          </a:p>
          <a:p>
            <a:r>
              <a:rPr lang="en-US" dirty="0">
                <a:latin typeface="ThiemeGulliver2011-Regular"/>
              </a:rPr>
              <a:t>• It is a midline structure that drains into the confluence of the sinuses (torcular </a:t>
            </a:r>
            <a:r>
              <a:rPr lang="en-US" dirty="0" err="1">
                <a:latin typeface="ThiemeGulliver2011-Regular"/>
              </a:rPr>
              <a:t>herophili</a:t>
            </a:r>
            <a:r>
              <a:rPr lang="en-US" dirty="0">
                <a:latin typeface="ThiemeGulliver2011-Regular"/>
              </a:rPr>
              <a:t>) at the internal</a:t>
            </a:r>
          </a:p>
          <a:p>
            <a:r>
              <a:rPr lang="cs-CZ" dirty="0" err="1">
                <a:latin typeface="ThiemeGulliver2011-Regular"/>
              </a:rPr>
              <a:t>occipital</a:t>
            </a:r>
            <a:r>
              <a:rPr lang="cs-CZ" dirty="0">
                <a:latin typeface="ThiemeGulliver2011-Regular"/>
              </a:rPr>
              <a:t> protuberance.</a:t>
            </a:r>
          </a:p>
          <a:p>
            <a:r>
              <a:rPr lang="en-US" dirty="0">
                <a:latin typeface="ThiemeGulliver2011-Regular"/>
              </a:rPr>
              <a:t>• It receives blood from both the superficial cerebral veins and the deep cerebral veins.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5746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F19A5A-6291-5764-CA2C-5283AE5B8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F116EF3-8E05-4878-775C-0212A4D46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274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8D440C-3639-0626-E91D-38865B725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F9D50BD-6E80-8F0F-D0FB-BC32281A4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2123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57E3B962-1E1A-4511-A43A-DB13E0EC7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0" y="160519"/>
            <a:ext cx="6130859" cy="6657246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E4C1A3E6-A41B-43E9-AF6F-2DD4EA0A4107}"/>
              </a:ext>
            </a:extLst>
          </p:cNvPr>
          <p:cNvSpPr/>
          <p:nvPr/>
        </p:nvSpPr>
        <p:spPr>
          <a:xfrm>
            <a:off x="92363" y="1154169"/>
            <a:ext cx="492298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CT of the head</a:t>
            </a:r>
          </a:p>
        </p:txBody>
      </p:sp>
    </p:spTree>
    <p:extLst>
      <p:ext uri="{BB962C8B-B14F-4D97-AF65-F5344CB8AC3E}">
        <p14:creationId xmlns:p14="http://schemas.microsoft.com/office/powerpoint/2010/main" val="14899445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57E3B962-1E1A-4511-A43A-DB13E0EC7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0" y="160519"/>
            <a:ext cx="6130859" cy="6657246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E4C1A3E6-A41B-43E9-AF6F-2DD4EA0A4107}"/>
              </a:ext>
            </a:extLst>
          </p:cNvPr>
          <p:cNvSpPr/>
          <p:nvPr/>
        </p:nvSpPr>
        <p:spPr>
          <a:xfrm>
            <a:off x="92363" y="1154169"/>
            <a:ext cx="4922982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CT of the head</a:t>
            </a:r>
          </a:p>
          <a:p>
            <a:r>
              <a:rPr lang="en-US" b="1" dirty="0">
                <a:latin typeface="ThiemeGulliver2011-Bold"/>
              </a:rPr>
              <a:t>Answer: </a:t>
            </a:r>
            <a:r>
              <a:rPr lang="en-US" dirty="0">
                <a:latin typeface="ThiemeGulliver2011-Regular"/>
              </a:rPr>
              <a:t>Right ramus of the mandible</a:t>
            </a:r>
          </a:p>
          <a:p>
            <a:r>
              <a:rPr lang="en-US" dirty="0">
                <a:latin typeface="ThiemeGulliver2011-Regular"/>
              </a:rPr>
              <a:t>• The ramus of the mandible is the posterior vertical extension of the body of the mandible.</a:t>
            </a:r>
          </a:p>
          <a:p>
            <a:r>
              <a:rPr lang="en-US" dirty="0">
                <a:latin typeface="ThiemeGulliver2011-Regular"/>
              </a:rPr>
              <a:t>• The superior mandibular ramus divides into the coronoid process (anteriorly) and the condyloid process</a:t>
            </a:r>
          </a:p>
          <a:p>
            <a:r>
              <a:rPr lang="en-US" dirty="0">
                <a:latin typeface="ThiemeGulliver2011-Regular"/>
              </a:rPr>
              <a:t>extending to the mandibular condyle (posteriorly).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394799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CCDE31F6-8EA0-44D8-B5A0-71ACD6E3B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371" y="122666"/>
            <a:ext cx="5072071" cy="6429747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9856497B-851D-4718-844E-492E2DEFE3AE}"/>
              </a:ext>
            </a:extLst>
          </p:cNvPr>
          <p:cNvSpPr/>
          <p:nvPr/>
        </p:nvSpPr>
        <p:spPr>
          <a:xfrm>
            <a:off x="136849" y="930038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T2-weighted MRI of the brain</a:t>
            </a:r>
          </a:p>
        </p:txBody>
      </p:sp>
    </p:spTree>
    <p:extLst>
      <p:ext uri="{BB962C8B-B14F-4D97-AF65-F5344CB8AC3E}">
        <p14:creationId xmlns:p14="http://schemas.microsoft.com/office/powerpoint/2010/main" val="2809567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CCDE31F6-8EA0-44D8-B5A0-71ACD6E3B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371" y="122666"/>
            <a:ext cx="5072071" cy="6429747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9856497B-851D-4718-844E-492E2DEFE3AE}"/>
              </a:ext>
            </a:extLst>
          </p:cNvPr>
          <p:cNvSpPr/>
          <p:nvPr/>
        </p:nvSpPr>
        <p:spPr>
          <a:xfrm>
            <a:off x="136849" y="930038"/>
            <a:ext cx="6096000" cy="32624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T2-weighted MRI of the brain</a:t>
            </a:r>
          </a:p>
          <a:p>
            <a:r>
              <a:rPr lang="en-US" b="1" dirty="0">
                <a:latin typeface="ThiemeGulliver2011-Bold"/>
              </a:rPr>
              <a:t>Answer: </a:t>
            </a:r>
            <a:r>
              <a:rPr lang="en-US" dirty="0">
                <a:latin typeface="ThiemeGulliver2011-Regular"/>
              </a:rPr>
              <a:t>Frontal horn of the right lateral ventricle</a:t>
            </a:r>
          </a:p>
          <a:p>
            <a:r>
              <a:rPr lang="en-US" dirty="0">
                <a:latin typeface="ThiemeGulliver2011-Regular"/>
              </a:rPr>
              <a:t>• The lateral ventricles are paired C-shaped structures.</a:t>
            </a:r>
          </a:p>
          <a:p>
            <a:r>
              <a:rPr lang="en-US" dirty="0">
                <a:latin typeface="ThiemeGulliver2011-Regular"/>
              </a:rPr>
              <a:t>• They consist of the frontal horn, body (central part), temporal (inferior) horn, and the occipital (posterior)</a:t>
            </a:r>
          </a:p>
          <a:p>
            <a:r>
              <a:rPr lang="cs-CZ" dirty="0" err="1">
                <a:latin typeface="ThiemeGulliver2011-Regular"/>
              </a:rPr>
              <a:t>horn</a:t>
            </a:r>
            <a:r>
              <a:rPr lang="cs-CZ" dirty="0">
                <a:latin typeface="ThiemeGulliver2011-Regular"/>
              </a:rPr>
              <a:t>.</a:t>
            </a:r>
          </a:p>
          <a:p>
            <a:r>
              <a:rPr lang="en-US" dirty="0">
                <a:latin typeface="ThiemeGulliver2011-Regular"/>
              </a:rPr>
              <a:t>• They contain the choroid plexus, which produces the cerebrospinal fluid.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806978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E57A09EF-7597-4BF3-9E9E-F2C8258EB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127" y="154410"/>
            <a:ext cx="5216460" cy="6546921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18DA693C-A351-406D-9253-4A631E06367B}"/>
              </a:ext>
            </a:extLst>
          </p:cNvPr>
          <p:cNvSpPr/>
          <p:nvPr/>
        </p:nvSpPr>
        <p:spPr>
          <a:xfrm>
            <a:off x="452582" y="864774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T2-weighted MRI of the brain</a:t>
            </a:r>
          </a:p>
        </p:txBody>
      </p:sp>
    </p:spTree>
    <p:extLst>
      <p:ext uri="{BB962C8B-B14F-4D97-AF65-F5344CB8AC3E}">
        <p14:creationId xmlns:p14="http://schemas.microsoft.com/office/powerpoint/2010/main" val="4764408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E57A09EF-7597-4BF3-9E9E-F2C8258EB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127" y="154410"/>
            <a:ext cx="5216460" cy="6546921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18DA693C-A351-406D-9253-4A631E06367B}"/>
              </a:ext>
            </a:extLst>
          </p:cNvPr>
          <p:cNvSpPr/>
          <p:nvPr/>
        </p:nvSpPr>
        <p:spPr>
          <a:xfrm>
            <a:off x="452582" y="864774"/>
            <a:ext cx="6096000" cy="243143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T2-weighted MRI of the brain</a:t>
            </a:r>
          </a:p>
          <a:p>
            <a:r>
              <a:rPr lang="en-US" b="1" dirty="0">
                <a:latin typeface="ThiemeGulliver2011-Bold"/>
              </a:rPr>
              <a:t>Answer: </a:t>
            </a:r>
            <a:r>
              <a:rPr lang="en-US" dirty="0">
                <a:latin typeface="ThiemeGulliver2011-Regular"/>
              </a:rPr>
              <a:t>Splenium of corpus callosum</a:t>
            </a:r>
          </a:p>
          <a:p>
            <a:r>
              <a:rPr lang="en-US" dirty="0">
                <a:latin typeface="ThiemeGulliver2011-Regular"/>
              </a:rPr>
              <a:t>• This is a midline structure that crosses the interhemispheric fissure and facilitates communication between</a:t>
            </a:r>
          </a:p>
          <a:p>
            <a:r>
              <a:rPr lang="en-US" dirty="0">
                <a:latin typeface="ThiemeGulliver2011-Regular"/>
              </a:rPr>
              <a:t>the left and right cerebral hemispheres.</a:t>
            </a:r>
            <a:endParaRPr lang="cs-CZ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65E7CC98-6986-4D2C-8516-B4299FC407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716" y="3375808"/>
            <a:ext cx="4493373" cy="332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1256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4D06B408-F25C-4CD9-AFA6-1B22EEE0D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127" y="129233"/>
            <a:ext cx="5244169" cy="6674397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B042291F-13C7-4D91-BDCE-8E87205A608C}"/>
              </a:ext>
            </a:extLst>
          </p:cNvPr>
          <p:cNvSpPr/>
          <p:nvPr/>
        </p:nvSpPr>
        <p:spPr>
          <a:xfrm>
            <a:off x="674254" y="1588325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Coronal MRI of the brain</a:t>
            </a:r>
          </a:p>
        </p:txBody>
      </p:sp>
    </p:spTree>
    <p:extLst>
      <p:ext uri="{BB962C8B-B14F-4D97-AF65-F5344CB8AC3E}">
        <p14:creationId xmlns:p14="http://schemas.microsoft.com/office/powerpoint/2010/main" val="40161122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4D06B408-F25C-4CD9-AFA6-1B22EEE0D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127" y="129233"/>
            <a:ext cx="5244169" cy="6674397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B042291F-13C7-4D91-BDCE-8E87205A608C}"/>
              </a:ext>
            </a:extLst>
          </p:cNvPr>
          <p:cNvSpPr/>
          <p:nvPr/>
        </p:nvSpPr>
        <p:spPr>
          <a:xfrm>
            <a:off x="674254" y="1588325"/>
            <a:ext cx="6096000" cy="264687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Coronal MRI of the brain</a:t>
            </a:r>
          </a:p>
          <a:p>
            <a:r>
              <a:rPr lang="en-US" b="1" dirty="0">
                <a:latin typeface="ThiemeGulliver2011-Bold"/>
              </a:rPr>
              <a:t>Answer: </a:t>
            </a:r>
            <a:r>
              <a:rPr lang="en-US" dirty="0">
                <a:latin typeface="ThiemeGulliver2011-Regular"/>
              </a:rPr>
              <a:t>Left temporal lobe (white matter)</a:t>
            </a:r>
          </a:p>
          <a:p>
            <a:r>
              <a:rPr lang="en-US" dirty="0">
                <a:latin typeface="ThiemeGulliver2011-Regular"/>
              </a:rPr>
              <a:t>• The temporal lobes are the most inferior lobes of the cerebral cortex.</a:t>
            </a:r>
          </a:p>
          <a:p>
            <a:r>
              <a:rPr lang="en-US" dirty="0">
                <a:latin typeface="ThiemeGulliver2011-Regular"/>
              </a:rPr>
              <a:t>• The temporal lobes occupy the middle cranial fossae.</a:t>
            </a:r>
          </a:p>
          <a:p>
            <a:r>
              <a:rPr lang="en-US" dirty="0">
                <a:latin typeface="ThiemeGulliver2011-Regular"/>
              </a:rPr>
              <a:t>• They are separated from the superior frontal lobes by the Sylvian (lateral) fissures (pictured).</a:t>
            </a:r>
          </a:p>
          <a:p>
            <a:r>
              <a:rPr lang="en-US" dirty="0">
                <a:latin typeface="ThiemeGulliver2011-Regular"/>
              </a:rPr>
              <a:t>• They contain the limbic system.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599768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8A3A4EA8-B5F1-4F60-8D67-729D63C33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364" y="103908"/>
            <a:ext cx="5308823" cy="6649435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F75582EF-270E-4E51-8A50-E484EA2D9C76}"/>
              </a:ext>
            </a:extLst>
          </p:cNvPr>
          <p:cNvSpPr/>
          <p:nvPr/>
        </p:nvSpPr>
        <p:spPr>
          <a:xfrm>
            <a:off x="452582" y="121287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Radiograph of the face (occipitomental</a:t>
            </a:r>
          </a:p>
          <a:p>
            <a:r>
              <a:rPr lang="cs-CZ" sz="4000" b="1" i="0" u="none" strike="noStrike" baseline="0" dirty="0">
                <a:latin typeface="ThiemeArgo2011-Bold"/>
              </a:rPr>
              <a:t>30° </a:t>
            </a:r>
            <a:r>
              <a:rPr lang="cs-CZ" sz="4000" b="1" i="0" u="none" strike="noStrike" baseline="0" dirty="0" err="1">
                <a:latin typeface="ThiemeArgo2011-Bold"/>
              </a:rPr>
              <a:t>projection</a:t>
            </a:r>
            <a:r>
              <a:rPr lang="cs-CZ" sz="4000" b="1" i="0" u="none" strike="noStrike" baseline="0" dirty="0">
                <a:latin typeface="ThiemeArgo2011-Bold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362204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8A3A4EA8-B5F1-4F60-8D67-729D63C33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364" y="103908"/>
            <a:ext cx="5308823" cy="6649435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F75582EF-270E-4E51-8A50-E484EA2D9C76}"/>
              </a:ext>
            </a:extLst>
          </p:cNvPr>
          <p:cNvSpPr/>
          <p:nvPr/>
        </p:nvSpPr>
        <p:spPr>
          <a:xfrm>
            <a:off x="452582" y="1212871"/>
            <a:ext cx="6096000" cy="36009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Radiograph of the face (occipitomental</a:t>
            </a:r>
          </a:p>
          <a:p>
            <a:r>
              <a:rPr lang="cs-CZ" sz="4000" b="1" i="0" u="none" strike="noStrike" baseline="0" dirty="0">
                <a:latin typeface="ThiemeArgo2011-Bold"/>
              </a:rPr>
              <a:t>30° </a:t>
            </a:r>
            <a:r>
              <a:rPr lang="cs-CZ" sz="4000" b="1" i="0" u="none" strike="noStrike" baseline="0" dirty="0" err="1">
                <a:latin typeface="ThiemeArgo2011-Bold"/>
              </a:rPr>
              <a:t>projection</a:t>
            </a:r>
            <a:r>
              <a:rPr lang="cs-CZ" sz="4000" b="1" i="0" u="none" strike="noStrike" baseline="0" dirty="0">
                <a:latin typeface="ThiemeArgo2011-Bold"/>
              </a:rPr>
              <a:t>)</a:t>
            </a:r>
          </a:p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 err="1">
                <a:latin typeface="ThiemeGulliver2011-Regular"/>
              </a:rPr>
              <a:t>Right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maxillary</a:t>
            </a:r>
            <a:r>
              <a:rPr lang="cs-CZ" dirty="0">
                <a:latin typeface="ThiemeGulliver2011-Regular"/>
              </a:rPr>
              <a:t> sinus</a:t>
            </a:r>
          </a:p>
          <a:p>
            <a:r>
              <a:rPr lang="en-US" dirty="0">
                <a:latin typeface="ThiemeGulliver2011-Regular"/>
              </a:rPr>
              <a:t>• The maxillary sinus, or antrum, is a pyramidal mucosa-lined air space in the body of the maxilla.</a:t>
            </a:r>
          </a:p>
          <a:p>
            <a:r>
              <a:rPr lang="en-US" dirty="0">
                <a:latin typeface="ThiemeGulliver2011-Regular"/>
              </a:rPr>
              <a:t>• It is inferior to the orbits and lateral to the nasal cavity.</a:t>
            </a:r>
          </a:p>
          <a:p>
            <a:r>
              <a:rPr lang="en-US" dirty="0">
                <a:latin typeface="ThiemeGulliver2011-Regular"/>
              </a:rPr>
              <a:t>• It is the largest of the paranasal sinuses.</a:t>
            </a:r>
          </a:p>
          <a:p>
            <a:r>
              <a:rPr lang="en-US" dirty="0">
                <a:latin typeface="ThiemeGulliver2011-Regular"/>
              </a:rPr>
              <a:t>• It drains into the middle meatus of the nose.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721336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67AA3C57-691F-47D6-A0EA-9C03FFFB2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818" y="170387"/>
            <a:ext cx="5234932" cy="6517226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06928F85-E3C4-40B1-AEB8-32E5C4EC40ED}"/>
              </a:ext>
            </a:extLst>
          </p:cNvPr>
          <p:cNvSpPr/>
          <p:nvPr/>
        </p:nvSpPr>
        <p:spPr>
          <a:xfrm>
            <a:off x="230909" y="541961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4000" b="1" i="0" u="none" strike="noStrike" baseline="0" dirty="0" err="1">
                <a:latin typeface="ThiemeArgo2011-Bold"/>
              </a:rPr>
              <a:t>Axial</a:t>
            </a:r>
            <a:r>
              <a:rPr lang="cs-CZ" sz="4000" b="1" i="0" u="none" strike="noStrike" baseline="0" dirty="0">
                <a:latin typeface="ThiemeArgo2011-Bold"/>
              </a:rPr>
              <a:t> T2-weighted MRI brain</a:t>
            </a:r>
          </a:p>
        </p:txBody>
      </p:sp>
    </p:spTree>
    <p:extLst>
      <p:ext uri="{BB962C8B-B14F-4D97-AF65-F5344CB8AC3E}">
        <p14:creationId xmlns:p14="http://schemas.microsoft.com/office/powerpoint/2010/main" val="34801745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67AA3C57-691F-47D6-A0EA-9C03FFFB2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818" y="170387"/>
            <a:ext cx="5234932" cy="6517226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06928F85-E3C4-40B1-AEB8-32E5C4EC40ED}"/>
              </a:ext>
            </a:extLst>
          </p:cNvPr>
          <p:cNvSpPr/>
          <p:nvPr/>
        </p:nvSpPr>
        <p:spPr>
          <a:xfrm>
            <a:off x="230909" y="541961"/>
            <a:ext cx="6096000" cy="52014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4000" b="1" i="0" u="none" strike="noStrike" baseline="0" dirty="0" err="1">
                <a:latin typeface="ThiemeArgo2011-Bold"/>
              </a:rPr>
              <a:t>Axial</a:t>
            </a:r>
            <a:r>
              <a:rPr lang="cs-CZ" sz="4000" b="1" i="0" u="none" strike="noStrike" baseline="0" dirty="0">
                <a:latin typeface="ThiemeArgo2011-Bold"/>
              </a:rPr>
              <a:t> T2-weighted MRI brain</a:t>
            </a:r>
          </a:p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 err="1">
                <a:latin typeface="ThiemeGulliver2011-Regular"/>
              </a:rPr>
              <a:t>Midbrain</a:t>
            </a:r>
            <a:endParaRPr lang="cs-CZ" dirty="0">
              <a:latin typeface="ThiemeGulliver2011-Regular"/>
            </a:endParaRPr>
          </a:p>
          <a:p>
            <a:r>
              <a:rPr lang="en-US" dirty="0">
                <a:latin typeface="ThiemeGulliver2011-Regular"/>
              </a:rPr>
              <a:t>• The midbrain is the most superior portion of the brainstem.</a:t>
            </a:r>
          </a:p>
          <a:p>
            <a:r>
              <a:rPr lang="en-US" dirty="0">
                <a:latin typeface="ThiemeGulliver2011-Regular"/>
              </a:rPr>
              <a:t>• On axial images, it is ‘Mickey Mouse’–shaped; the cerebral peduncles resemble the ears.</a:t>
            </a:r>
          </a:p>
          <a:p>
            <a:r>
              <a:rPr lang="en-US" dirty="0">
                <a:latin typeface="ThiemeGulliver2011-Regular"/>
              </a:rPr>
              <a:t>• It connects to the thalamus (superiorly) and to the pons (inferiorly).</a:t>
            </a:r>
          </a:p>
          <a:p>
            <a:r>
              <a:rPr lang="en-US" dirty="0">
                <a:latin typeface="ThiemeGulliver2011-Regular"/>
              </a:rPr>
              <a:t>• The midbrain is divided into three portions:</a:t>
            </a:r>
          </a:p>
          <a:p>
            <a:r>
              <a:rPr lang="cs-CZ" sz="800" b="0" i="0" u="none" strike="noStrike" baseline="0" dirty="0">
                <a:latin typeface="ThiemeGulliver2011-Regular"/>
              </a:rPr>
              <a:t>○ </a:t>
            </a:r>
            <a:r>
              <a:rPr lang="cs-CZ" dirty="0" err="1">
                <a:latin typeface="ThiemeGulliver2011-Regular"/>
              </a:rPr>
              <a:t>Tectum</a:t>
            </a:r>
            <a:r>
              <a:rPr lang="cs-CZ" dirty="0">
                <a:latin typeface="ThiemeGulliver2011-Regular"/>
              </a:rPr>
              <a:t> (</a:t>
            </a:r>
            <a:r>
              <a:rPr lang="cs-CZ" dirty="0" err="1">
                <a:latin typeface="ThiemeGulliver2011-Regular"/>
              </a:rPr>
              <a:t>posterior</a:t>
            </a:r>
            <a:r>
              <a:rPr lang="cs-CZ" dirty="0">
                <a:latin typeface="ThiemeGulliver2011-Regular"/>
              </a:rPr>
              <a:t>)</a:t>
            </a:r>
          </a:p>
          <a:p>
            <a:r>
              <a:rPr lang="en-US" dirty="0">
                <a:latin typeface="ThiemeGulliver2011-Regular"/>
              </a:rPr>
              <a:t>• Made up of the </a:t>
            </a:r>
            <a:r>
              <a:rPr lang="en-US" dirty="0" err="1">
                <a:latin typeface="ThiemeGulliver2011-Regular"/>
              </a:rPr>
              <a:t>tectal</a:t>
            </a:r>
            <a:r>
              <a:rPr lang="en-US" dirty="0">
                <a:latin typeface="ThiemeGulliver2011-Regular"/>
              </a:rPr>
              <a:t>/quadrigeminal plate and the superior and inferior colliculi</a:t>
            </a:r>
          </a:p>
          <a:p>
            <a:r>
              <a:rPr lang="cs-CZ" sz="800" b="0" i="0" u="none" strike="noStrike" baseline="0" dirty="0">
                <a:latin typeface="ThiemeGulliver2011-Regular"/>
              </a:rPr>
              <a:t>○ </a:t>
            </a:r>
            <a:r>
              <a:rPr lang="cs-CZ" dirty="0" err="1">
                <a:latin typeface="ThiemeGulliver2011-Regular"/>
              </a:rPr>
              <a:t>Tegmentum</a:t>
            </a:r>
            <a:endParaRPr lang="cs-CZ" dirty="0">
              <a:latin typeface="ThiemeGulliver2011-Regular"/>
            </a:endParaRPr>
          </a:p>
          <a:p>
            <a:r>
              <a:rPr lang="cs-CZ" sz="800" b="0" i="0" u="none" strike="noStrike" baseline="0" dirty="0">
                <a:latin typeface="ThiemeGulliver2011-Regular"/>
              </a:rPr>
              <a:t>○ </a:t>
            </a:r>
            <a:r>
              <a:rPr lang="cs-CZ" dirty="0" err="1">
                <a:latin typeface="ThiemeGulliver2011-Regular"/>
              </a:rPr>
              <a:t>Cerebral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peduncles</a:t>
            </a:r>
            <a:r>
              <a:rPr lang="cs-CZ" dirty="0">
                <a:latin typeface="ThiemeGulliver2011-Regular"/>
              </a:rPr>
              <a:t> (</a:t>
            </a:r>
            <a:r>
              <a:rPr lang="cs-CZ" dirty="0" err="1">
                <a:latin typeface="ThiemeGulliver2011-Regular"/>
              </a:rPr>
              <a:t>anterior</a:t>
            </a:r>
            <a:r>
              <a:rPr lang="cs-CZ" dirty="0">
                <a:latin typeface="ThiemeGulliver2011-Regular"/>
              </a:rPr>
              <a:t>)</a:t>
            </a:r>
          </a:p>
          <a:p>
            <a:r>
              <a:rPr lang="en-US" dirty="0">
                <a:latin typeface="ThiemeGulliver2011-Regular"/>
              </a:rPr>
              <a:t>• Separated by the interpeduncular fossa in the midline, which contains the mamillary bodies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794105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8ACD8FF6-D944-4237-87A5-38012540B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09" y="244838"/>
            <a:ext cx="5308823" cy="6542186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A4992A59-DB81-4AF6-AE0C-4702D94721DE}"/>
              </a:ext>
            </a:extLst>
          </p:cNvPr>
          <p:cNvSpPr/>
          <p:nvPr/>
        </p:nvSpPr>
        <p:spPr>
          <a:xfrm>
            <a:off x="193964" y="1557546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T2-weighted MRI of the brain</a:t>
            </a:r>
          </a:p>
        </p:txBody>
      </p:sp>
    </p:spTree>
    <p:extLst>
      <p:ext uri="{BB962C8B-B14F-4D97-AF65-F5344CB8AC3E}">
        <p14:creationId xmlns:p14="http://schemas.microsoft.com/office/powerpoint/2010/main" val="36343256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8ACD8FF6-D944-4237-87A5-38012540B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09" y="244838"/>
            <a:ext cx="5308823" cy="6542186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A4992A59-DB81-4AF6-AE0C-4702D94721DE}"/>
              </a:ext>
            </a:extLst>
          </p:cNvPr>
          <p:cNvSpPr/>
          <p:nvPr/>
        </p:nvSpPr>
        <p:spPr>
          <a:xfrm>
            <a:off x="193964" y="1557546"/>
            <a:ext cx="6096000" cy="270843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T2-weighted MRI of the brain</a:t>
            </a:r>
          </a:p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 err="1">
                <a:latin typeface="ThiemeGulliver2011-Regular"/>
              </a:rPr>
              <a:t>Right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mamillary</a:t>
            </a:r>
            <a:r>
              <a:rPr lang="cs-CZ" dirty="0">
                <a:latin typeface="ThiemeGulliver2011-Regular"/>
              </a:rPr>
              <a:t> body</a:t>
            </a:r>
          </a:p>
          <a:p>
            <a:r>
              <a:rPr lang="en-US" dirty="0">
                <a:latin typeface="ThiemeGulliver2011-Regular"/>
              </a:rPr>
              <a:t>• The mamillary body is a paired, small, round structure located in the interpeduncular cistern/fossa.</a:t>
            </a:r>
          </a:p>
          <a:p>
            <a:r>
              <a:rPr lang="en-US" dirty="0">
                <a:latin typeface="ThiemeGulliver2011-Regular"/>
              </a:rPr>
              <a:t>• It extends from the hypothalamus.</a:t>
            </a:r>
          </a:p>
          <a:p>
            <a:r>
              <a:rPr lang="en-US" dirty="0">
                <a:latin typeface="ThiemeGulliver2011-Regular"/>
              </a:rPr>
              <a:t>• It returns low signal on a T2-weighted MRI.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511819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6B28C0E4-0861-4E29-9346-6F0652BDB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3648"/>
            <a:ext cx="5890714" cy="6545239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1B0A04CE-E3B2-4018-8505-E57FDFE9A0C6}"/>
              </a:ext>
            </a:extLst>
          </p:cNvPr>
          <p:cNvSpPr/>
          <p:nvPr/>
        </p:nvSpPr>
        <p:spPr>
          <a:xfrm>
            <a:off x="0" y="741393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MR angiogram of the circle of Willis (MIP image)</a:t>
            </a:r>
          </a:p>
        </p:txBody>
      </p:sp>
    </p:spTree>
    <p:extLst>
      <p:ext uri="{BB962C8B-B14F-4D97-AF65-F5344CB8AC3E}">
        <p14:creationId xmlns:p14="http://schemas.microsoft.com/office/powerpoint/2010/main" val="12757924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6B28C0E4-0861-4E29-9346-6F0652BDB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3648"/>
            <a:ext cx="5890714" cy="6545239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1B0A04CE-E3B2-4018-8505-E57FDFE9A0C6}"/>
              </a:ext>
            </a:extLst>
          </p:cNvPr>
          <p:cNvSpPr/>
          <p:nvPr/>
        </p:nvSpPr>
        <p:spPr>
          <a:xfrm>
            <a:off x="0" y="741393"/>
            <a:ext cx="6096000" cy="46474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MR angiogram of the circle of Willis (MIP image)</a:t>
            </a:r>
          </a:p>
          <a:p>
            <a:r>
              <a:rPr lang="en-US" b="1" dirty="0">
                <a:latin typeface="ThiemeGulliver2011-Bold"/>
              </a:rPr>
              <a:t>Answer: </a:t>
            </a:r>
            <a:r>
              <a:rPr lang="en-US" dirty="0">
                <a:latin typeface="ThiemeGulliver2011-Regular"/>
              </a:rPr>
              <a:t>Left internal carotid artery</a:t>
            </a:r>
          </a:p>
          <a:p>
            <a:r>
              <a:rPr lang="en-US" dirty="0">
                <a:latin typeface="ThiemeGulliver2011-Regular"/>
              </a:rPr>
              <a:t>• The internal carotid arteries arise from the bifurcation of the common carotid arteries at the level of C4</a:t>
            </a:r>
          </a:p>
          <a:p>
            <a:r>
              <a:rPr lang="en-US" dirty="0">
                <a:latin typeface="ThiemeGulliver2011-Regular"/>
              </a:rPr>
              <a:t>and ascend to the base of the skull.</a:t>
            </a:r>
          </a:p>
          <a:p>
            <a:r>
              <a:rPr lang="en-US" dirty="0">
                <a:latin typeface="ThiemeGulliver2011-Regular"/>
              </a:rPr>
              <a:t>• They then enter the cranial cavity via the carotid canal in the petrous bone and follow a tortuous course</a:t>
            </a:r>
          </a:p>
          <a:p>
            <a:r>
              <a:rPr lang="en-US" dirty="0">
                <a:latin typeface="ThiemeGulliver2011-Regular"/>
              </a:rPr>
              <a:t>before terminating at the anterior perforated substance by dividing into the anterior and middle cerebral</a:t>
            </a:r>
          </a:p>
          <a:p>
            <a:r>
              <a:rPr lang="cs-CZ" dirty="0" err="1">
                <a:latin typeface="ThiemeGulliver2011-Regular"/>
              </a:rPr>
              <a:t>arteries</a:t>
            </a:r>
            <a:r>
              <a:rPr lang="cs-CZ" dirty="0">
                <a:latin typeface="ThiemeGulliver2011-Regular"/>
              </a:rPr>
              <a:t>.</a:t>
            </a:r>
          </a:p>
          <a:p>
            <a:r>
              <a:rPr lang="en-US" dirty="0">
                <a:latin typeface="ThiemeGulliver2011-Regular"/>
              </a:rPr>
              <a:t>• At the circle of Willis, the internal carotid arteries can be </a:t>
            </a:r>
            <a:r>
              <a:rPr lang="en-US" dirty="0" err="1">
                <a:latin typeface="ThiemeGulliver2011-Regular"/>
              </a:rPr>
              <a:t>recognised</a:t>
            </a:r>
            <a:r>
              <a:rPr lang="en-US" dirty="0">
                <a:latin typeface="ThiemeGulliver2011-Regular"/>
              </a:rPr>
              <a:t> as the vessels with the greatest</a:t>
            </a:r>
          </a:p>
          <a:p>
            <a:r>
              <a:rPr lang="cs-CZ" dirty="0" err="1">
                <a:latin typeface="ThiemeGulliver2011-Regular"/>
              </a:rPr>
              <a:t>diameters</a:t>
            </a:r>
            <a:r>
              <a:rPr lang="cs-CZ" dirty="0">
                <a:latin typeface="ThiemeGulliver2011-Regular"/>
              </a:rPr>
              <a:t>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023311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CD2542CC-01C2-4A38-A70A-16D32A256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182" y="115528"/>
            <a:ext cx="5438132" cy="6701537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7F970E95-2012-46B7-91BA-0C197F9F4199}"/>
              </a:ext>
            </a:extLst>
          </p:cNvPr>
          <p:cNvSpPr/>
          <p:nvPr/>
        </p:nvSpPr>
        <p:spPr>
          <a:xfrm>
            <a:off x="415637" y="763357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Coronal T2-weighted MRI of the brain</a:t>
            </a:r>
          </a:p>
        </p:txBody>
      </p:sp>
    </p:spTree>
    <p:extLst>
      <p:ext uri="{BB962C8B-B14F-4D97-AF65-F5344CB8AC3E}">
        <p14:creationId xmlns:p14="http://schemas.microsoft.com/office/powerpoint/2010/main" val="22422771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CD2542CC-01C2-4A38-A70A-16D32A256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182" y="115528"/>
            <a:ext cx="5438132" cy="6701537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7F970E95-2012-46B7-91BA-0C197F9F4199}"/>
              </a:ext>
            </a:extLst>
          </p:cNvPr>
          <p:cNvSpPr/>
          <p:nvPr/>
        </p:nvSpPr>
        <p:spPr>
          <a:xfrm>
            <a:off x="415637" y="763357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Coronal T2-weighted MRI of the brain</a:t>
            </a:r>
          </a:p>
          <a:p>
            <a:r>
              <a:rPr lang="en-US" b="1" dirty="0">
                <a:latin typeface="ThiemeGulliver2011-Bold"/>
              </a:rPr>
              <a:t>Answer: </a:t>
            </a:r>
            <a:r>
              <a:rPr lang="en-US" dirty="0">
                <a:latin typeface="ThiemeGulliver2011-Regular"/>
              </a:rPr>
              <a:t>Left Meckel’s cave (trigeminal cave)</a:t>
            </a:r>
          </a:p>
          <a:p>
            <a:r>
              <a:rPr lang="en-US" dirty="0">
                <a:latin typeface="ThiemeGulliver2011-Regular"/>
              </a:rPr>
              <a:t>• Meckel’s cave is a pouch containing cerebrospinal fluid formed by two layers of dura mater derived from</a:t>
            </a:r>
          </a:p>
          <a:p>
            <a:r>
              <a:rPr lang="cs-CZ" dirty="0" err="1">
                <a:latin typeface="ThiemeGulliver2011-Regular"/>
              </a:rPr>
              <a:t>the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tentorium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cerebelli</a:t>
            </a:r>
            <a:r>
              <a:rPr lang="cs-CZ" dirty="0">
                <a:latin typeface="ThiemeGulliver2011-Regular"/>
              </a:rPr>
              <a:t>.</a:t>
            </a:r>
          </a:p>
          <a:p>
            <a:r>
              <a:rPr lang="en-US" dirty="0">
                <a:latin typeface="ThiemeGulliver2011-Regular"/>
              </a:rPr>
              <a:t>• It contains the trigeminal nerve roots and ganglion.</a:t>
            </a:r>
          </a:p>
          <a:p>
            <a:r>
              <a:rPr lang="en-US" dirty="0">
                <a:latin typeface="ThiemeGulliver2011-Regular"/>
              </a:rPr>
              <a:t>• It lies adjacent to the posterolateral aspect of the cavernous sinus and lateral to the sphenoid bones.</a:t>
            </a:r>
          </a:p>
          <a:p>
            <a:r>
              <a:rPr lang="en-US" dirty="0">
                <a:latin typeface="ThiemeGulliver2011-Regular"/>
              </a:rPr>
              <a:t>• It is lateral to the internal carotid arteries.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908223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9BA47AC7-2E2E-40D0-A138-E7E8C6948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418" y="509117"/>
            <a:ext cx="4930133" cy="6224916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385C624A-FB43-4A9F-BB1D-0B2F6C91A3FB}"/>
              </a:ext>
            </a:extLst>
          </p:cNvPr>
          <p:cNvSpPr/>
          <p:nvPr/>
        </p:nvSpPr>
        <p:spPr>
          <a:xfrm>
            <a:off x="341745" y="874103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T2-weighted MRI of the brain</a:t>
            </a:r>
          </a:p>
        </p:txBody>
      </p:sp>
    </p:spTree>
    <p:extLst>
      <p:ext uri="{BB962C8B-B14F-4D97-AF65-F5344CB8AC3E}">
        <p14:creationId xmlns:p14="http://schemas.microsoft.com/office/powerpoint/2010/main" val="30849453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9BA47AC7-2E2E-40D0-A138-E7E8C6948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418" y="509117"/>
            <a:ext cx="4930133" cy="6224916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385C624A-FB43-4A9F-BB1D-0B2F6C91A3FB}"/>
              </a:ext>
            </a:extLst>
          </p:cNvPr>
          <p:cNvSpPr/>
          <p:nvPr/>
        </p:nvSpPr>
        <p:spPr>
          <a:xfrm>
            <a:off x="341745" y="874103"/>
            <a:ext cx="6096000" cy="298543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T2-weighted MRI of the brain</a:t>
            </a:r>
          </a:p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 err="1">
                <a:latin typeface="ThiemeGulliver2011-Regular"/>
              </a:rPr>
              <a:t>Cerebellar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vermis</a:t>
            </a:r>
            <a:endParaRPr lang="cs-CZ" dirty="0">
              <a:latin typeface="ThiemeGulliver2011-Regular"/>
            </a:endParaRPr>
          </a:p>
          <a:p>
            <a:r>
              <a:rPr lang="en-US" dirty="0">
                <a:latin typeface="ThiemeGulliver2011-Regular"/>
              </a:rPr>
              <a:t>• The cerebellar vermis is a single midline structure in the posterior fossa that connects the two cerebellar</a:t>
            </a:r>
          </a:p>
          <a:p>
            <a:r>
              <a:rPr lang="cs-CZ" dirty="0" err="1">
                <a:latin typeface="ThiemeGulliver2011-Regular"/>
              </a:rPr>
              <a:t>hemispheres</a:t>
            </a:r>
            <a:r>
              <a:rPr lang="cs-CZ" dirty="0">
                <a:latin typeface="ThiemeGulliver2011-Regular"/>
              </a:rPr>
              <a:t>.</a:t>
            </a:r>
          </a:p>
          <a:p>
            <a:r>
              <a:rPr lang="en-US" dirty="0">
                <a:latin typeface="ThiemeGulliver2011-Regular"/>
              </a:rPr>
              <a:t>• It lies posterior to the fourth ventricle.</a:t>
            </a:r>
          </a:p>
          <a:p>
            <a:r>
              <a:rPr lang="en-US" dirty="0">
                <a:latin typeface="ThiemeGulliver2011-Regular"/>
              </a:rPr>
              <a:t>• The vermis is separated into nine lobules by fissures (folia).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161885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A523B486-679D-4777-8566-1B7C9BC03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473" y="114337"/>
            <a:ext cx="7257695" cy="6744525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4D32315B-B348-4C94-8D3E-903E925D82D0}"/>
              </a:ext>
            </a:extLst>
          </p:cNvPr>
          <p:cNvSpPr/>
          <p:nvPr/>
        </p:nvSpPr>
        <p:spPr>
          <a:xfrm>
            <a:off x="572655" y="1197236"/>
            <a:ext cx="359294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Sagittal T1-weighted MRI of the brain</a:t>
            </a:r>
          </a:p>
        </p:txBody>
      </p:sp>
    </p:spTree>
    <p:extLst>
      <p:ext uri="{BB962C8B-B14F-4D97-AF65-F5344CB8AC3E}">
        <p14:creationId xmlns:p14="http://schemas.microsoft.com/office/powerpoint/2010/main" val="5089900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A523B486-679D-4777-8566-1B7C9BC03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473" y="114337"/>
            <a:ext cx="7257695" cy="6744525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4D32315B-B348-4C94-8D3E-903E925D82D0}"/>
              </a:ext>
            </a:extLst>
          </p:cNvPr>
          <p:cNvSpPr/>
          <p:nvPr/>
        </p:nvSpPr>
        <p:spPr>
          <a:xfrm>
            <a:off x="572655" y="1197236"/>
            <a:ext cx="3592945" cy="3125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Sagittal T1-weighted MRI of the brain</a:t>
            </a:r>
          </a:p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>
                <a:latin typeface="ThiemeGulliver2011-Regular"/>
              </a:rPr>
              <a:t>Corpus </a:t>
            </a:r>
            <a:r>
              <a:rPr lang="cs-CZ" dirty="0" err="1">
                <a:latin typeface="ThiemeGulliver2011-Regular"/>
              </a:rPr>
              <a:t>callosum</a:t>
            </a:r>
            <a:endParaRPr lang="cs-CZ" dirty="0">
              <a:latin typeface="ThiemeGulliver2011-Regular"/>
            </a:endParaRPr>
          </a:p>
          <a:p>
            <a:r>
              <a:rPr lang="en-US" dirty="0">
                <a:latin typeface="ThiemeGulliver2011-Regular"/>
              </a:rPr>
              <a:t>• The corpus callosum is a midline C-shaped structure that is composed of a flat bundle of nerve </a:t>
            </a:r>
            <a:r>
              <a:rPr lang="en-US" dirty="0" err="1">
                <a:latin typeface="ThiemeGulliver2011-Regular"/>
              </a:rPr>
              <a:t>fibres</a:t>
            </a:r>
            <a:r>
              <a:rPr lang="en-US" dirty="0">
                <a:latin typeface="ThiemeGulliver2011-Regular"/>
              </a:rPr>
              <a:t>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345751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B9E469EF-0E06-483A-8009-3FCAB04C4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164" y="88266"/>
            <a:ext cx="6417186" cy="6627852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C7C90E22-4E1E-426A-A64C-697BD74D047B}"/>
              </a:ext>
            </a:extLst>
          </p:cNvPr>
          <p:cNvSpPr/>
          <p:nvPr/>
        </p:nvSpPr>
        <p:spPr>
          <a:xfrm>
            <a:off x="203200" y="495687"/>
            <a:ext cx="517236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CT angiogram of the circle of Willis</a:t>
            </a:r>
          </a:p>
        </p:txBody>
      </p:sp>
    </p:spTree>
    <p:extLst>
      <p:ext uri="{BB962C8B-B14F-4D97-AF65-F5344CB8AC3E}">
        <p14:creationId xmlns:p14="http://schemas.microsoft.com/office/powerpoint/2010/main" val="39169113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B9E469EF-0E06-483A-8009-3FCAB04C4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164" y="88266"/>
            <a:ext cx="6417186" cy="6627852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C7C90E22-4E1E-426A-A64C-697BD74D047B}"/>
              </a:ext>
            </a:extLst>
          </p:cNvPr>
          <p:cNvSpPr/>
          <p:nvPr/>
        </p:nvSpPr>
        <p:spPr>
          <a:xfrm>
            <a:off x="203200" y="495687"/>
            <a:ext cx="5172364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CT angiogram of the circle of Willis</a:t>
            </a:r>
          </a:p>
          <a:p>
            <a:r>
              <a:rPr lang="en-US" b="1" dirty="0">
                <a:latin typeface="ThiemeGulliver2011-Bold"/>
              </a:rPr>
              <a:t>Answer: </a:t>
            </a:r>
            <a:r>
              <a:rPr lang="en-US" dirty="0">
                <a:latin typeface="ThiemeGulliver2011-Regular"/>
              </a:rPr>
              <a:t>Left anterior cerebral artery (ACA)</a:t>
            </a:r>
          </a:p>
          <a:p>
            <a:r>
              <a:rPr lang="en-US" sz="1600" dirty="0">
                <a:latin typeface="ThiemeGulliver2011-Regular"/>
              </a:rPr>
              <a:t>• The circle of Willis is more pentagonal in shape than circular.</a:t>
            </a:r>
          </a:p>
          <a:p>
            <a:r>
              <a:rPr lang="en-US" sz="1600" dirty="0">
                <a:latin typeface="ThiemeGulliver2011-Regular"/>
              </a:rPr>
              <a:t>• It encloses the optic chiasm and pituitary stalk.</a:t>
            </a:r>
          </a:p>
          <a:p>
            <a:r>
              <a:rPr lang="en-US" sz="1600" dirty="0">
                <a:latin typeface="ThiemeGulliver2011-Regular"/>
              </a:rPr>
              <a:t>• The left and right ACA form the roof of the pentagon and are joined together by the anterior communicating</a:t>
            </a:r>
          </a:p>
          <a:p>
            <a:r>
              <a:rPr lang="en-US" sz="1600" dirty="0">
                <a:latin typeface="ThiemeGulliver2011-Regular"/>
              </a:rPr>
              <a:t>artery (which cannot be clearly </a:t>
            </a:r>
            <a:r>
              <a:rPr lang="en-US" sz="1600" dirty="0" err="1">
                <a:latin typeface="ThiemeGulliver2011-Regular"/>
              </a:rPr>
              <a:t>visualised</a:t>
            </a:r>
            <a:r>
              <a:rPr lang="en-US" sz="1600" dirty="0">
                <a:latin typeface="ThiemeGulliver2011-Regular"/>
              </a:rPr>
              <a:t> on the image).</a:t>
            </a:r>
          </a:p>
          <a:p>
            <a:r>
              <a:rPr lang="en-US" sz="1600" dirty="0">
                <a:latin typeface="ThiemeGulliver2011-Regular"/>
              </a:rPr>
              <a:t>• This is not the best example of the circle of Willis, but it has been included because the examples in the</a:t>
            </a:r>
          </a:p>
          <a:p>
            <a:r>
              <a:rPr lang="en-US" sz="1600" dirty="0">
                <a:latin typeface="ThiemeGulliver2011-Regular"/>
              </a:rPr>
              <a:t>examination are sometimes purposefully not of the best quality to test your knowledge.</a:t>
            </a:r>
          </a:p>
          <a:p>
            <a:r>
              <a:rPr lang="en-US" sz="1600" dirty="0">
                <a:latin typeface="ThiemeGulliver2011-Regular"/>
              </a:rPr>
              <a:t>• The figure below shows all the branches that form the circle of Willis.</a:t>
            </a:r>
            <a:endParaRPr lang="cs-CZ" sz="1600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6B947F5E-6854-4851-8CD8-A557B13F1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1038" y="2373746"/>
            <a:ext cx="2610962" cy="422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3520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AA35BE65-0C6A-4AFE-94E3-6F6D992F5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436" y="520141"/>
            <a:ext cx="5309419" cy="5466735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6C70EDC1-AEEC-4D83-9B7A-7FEC6BFFB601}"/>
              </a:ext>
            </a:extLst>
          </p:cNvPr>
          <p:cNvSpPr/>
          <p:nvPr/>
        </p:nvSpPr>
        <p:spPr>
          <a:xfrm>
            <a:off x="415636" y="1255816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CT of the skull</a:t>
            </a:r>
          </a:p>
        </p:txBody>
      </p:sp>
    </p:spTree>
    <p:extLst>
      <p:ext uri="{BB962C8B-B14F-4D97-AF65-F5344CB8AC3E}">
        <p14:creationId xmlns:p14="http://schemas.microsoft.com/office/powerpoint/2010/main" val="155904187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AA35BE65-0C6A-4AFE-94E3-6F6D992F5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436" y="520141"/>
            <a:ext cx="5309419" cy="5466735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6C70EDC1-AEEC-4D83-9B7A-7FEC6BFFB601}"/>
              </a:ext>
            </a:extLst>
          </p:cNvPr>
          <p:cNvSpPr/>
          <p:nvPr/>
        </p:nvSpPr>
        <p:spPr>
          <a:xfrm>
            <a:off x="415636" y="1255816"/>
            <a:ext cx="6096000" cy="264687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CT of the skull</a:t>
            </a:r>
          </a:p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 err="1">
                <a:latin typeface="ThiemeGulliver2011-Regular"/>
              </a:rPr>
              <a:t>Nasopharynx</a:t>
            </a:r>
            <a:endParaRPr lang="cs-CZ" dirty="0">
              <a:latin typeface="ThiemeGulliver2011-Regular"/>
            </a:endParaRPr>
          </a:p>
          <a:p>
            <a:r>
              <a:rPr lang="en-US" dirty="0">
                <a:latin typeface="ThiemeGulliver2011-Regular"/>
              </a:rPr>
              <a:t>• The pharynx is a muscular tube that is part of both the respiratory and gastrointestinal tracts.</a:t>
            </a:r>
          </a:p>
          <a:p>
            <a:r>
              <a:rPr lang="en-US" dirty="0">
                <a:latin typeface="ThiemeGulliver2011-Regular"/>
              </a:rPr>
              <a:t>• It is divided into three parts: the nasopharynx, oropharynx, and hypopharynx.</a:t>
            </a:r>
          </a:p>
          <a:p>
            <a:r>
              <a:rPr lang="en-US" dirty="0">
                <a:latin typeface="ThiemeGulliver2011-Regular"/>
              </a:rPr>
              <a:t>• On an axial image, the nasopharynx can be identified by its anterior communication with the nasal cavity.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713475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DCE47116-EEB7-4473-BD79-A49D23E12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764" y="0"/>
            <a:ext cx="5502786" cy="6836795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3A5F84E4-42E7-4300-9DC9-79B37D6AB3E4}"/>
              </a:ext>
            </a:extLst>
          </p:cNvPr>
          <p:cNvSpPr/>
          <p:nvPr/>
        </p:nvSpPr>
        <p:spPr>
          <a:xfrm>
            <a:off x="337324" y="528843"/>
            <a:ext cx="25396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hiemeArgo2011-Bold"/>
              </a:rPr>
              <a:t>Coronal MRI of the brain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679022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DCE47116-EEB7-4473-BD79-A49D23E12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764" y="0"/>
            <a:ext cx="5502786" cy="6836795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268B81B0-5BD7-46C2-BC30-B573B97A69FB}"/>
              </a:ext>
            </a:extLst>
          </p:cNvPr>
          <p:cNvSpPr/>
          <p:nvPr/>
        </p:nvSpPr>
        <p:spPr>
          <a:xfrm>
            <a:off x="240146" y="2348729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>
                <a:latin typeface="ThiemeGulliver2011-Regular"/>
              </a:rPr>
              <a:t>Septum </a:t>
            </a:r>
            <a:r>
              <a:rPr lang="cs-CZ" dirty="0" err="1">
                <a:latin typeface="ThiemeGulliver2011-Regular"/>
              </a:rPr>
              <a:t>pellucidum</a:t>
            </a:r>
            <a:endParaRPr lang="cs-CZ" dirty="0">
              <a:latin typeface="ThiemeGulliver2011-Regular"/>
            </a:endParaRPr>
          </a:p>
          <a:p>
            <a:r>
              <a:rPr lang="en-US" dirty="0">
                <a:latin typeface="ThiemeGulliver2011-Regular"/>
              </a:rPr>
              <a:t>• The septum pellucidum is a thin, vertical membrane in the midline extending from the corpus callosum</a:t>
            </a:r>
          </a:p>
          <a:p>
            <a:r>
              <a:rPr lang="cs-CZ" dirty="0">
                <a:latin typeface="ThiemeGulliver2011-Regular"/>
              </a:rPr>
              <a:t>to </a:t>
            </a:r>
            <a:r>
              <a:rPr lang="cs-CZ" dirty="0" err="1">
                <a:latin typeface="ThiemeGulliver2011-Regular"/>
              </a:rPr>
              <a:t>the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fornix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posteriorly</a:t>
            </a:r>
            <a:r>
              <a:rPr lang="cs-CZ" dirty="0">
                <a:latin typeface="ThiemeGulliver2011-Regular"/>
              </a:rPr>
              <a:t>.</a:t>
            </a:r>
          </a:p>
          <a:p>
            <a:r>
              <a:rPr lang="en-US" dirty="0">
                <a:latin typeface="ThiemeGulliver2011-Regular"/>
              </a:rPr>
              <a:t>• It separates the frontal horns of the left and right lateral ventricles.</a:t>
            </a:r>
          </a:p>
          <a:p>
            <a:r>
              <a:rPr lang="en-US" dirty="0">
                <a:latin typeface="ThiemeGulliver2011-Regular"/>
              </a:rPr>
              <a:t>• The septum pellucidum is situated anterior to the foramina of </a:t>
            </a:r>
            <a:r>
              <a:rPr lang="en-US" dirty="0" err="1">
                <a:latin typeface="ThiemeGulliver2011-Regular"/>
              </a:rPr>
              <a:t>Monro</a:t>
            </a:r>
            <a:r>
              <a:rPr lang="en-US" dirty="0">
                <a:latin typeface="ThiemeGulliver2011-Regular"/>
              </a:rPr>
              <a:t>.</a:t>
            </a:r>
            <a:endParaRPr lang="cs-CZ"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3A5F84E4-42E7-4300-9DC9-79B37D6AB3E4}"/>
              </a:ext>
            </a:extLst>
          </p:cNvPr>
          <p:cNvSpPr/>
          <p:nvPr/>
        </p:nvSpPr>
        <p:spPr>
          <a:xfrm>
            <a:off x="337324" y="528843"/>
            <a:ext cx="25396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hiemeArgo2011-Bold"/>
              </a:rPr>
              <a:t>Coronal MRI of the brain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224583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478E5786-FB53-42DE-934F-5D4A5E07237E}"/>
              </a:ext>
            </a:extLst>
          </p:cNvPr>
          <p:cNvSpPr/>
          <p:nvPr/>
        </p:nvSpPr>
        <p:spPr>
          <a:xfrm>
            <a:off x="0" y="1800808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b="1" dirty="0">
                <a:latin typeface="ThiemeGulliver2011-Regular"/>
              </a:rPr>
              <a:t>septum </a:t>
            </a:r>
            <a:r>
              <a:rPr lang="cs-CZ" b="1" dirty="0" err="1">
                <a:latin typeface="ThiemeGulliver2011-Regular"/>
              </a:rPr>
              <a:t>pellucidum</a:t>
            </a:r>
            <a:r>
              <a:rPr lang="cs-CZ" b="1" dirty="0">
                <a:latin typeface="ThiemeGulliver2011-Regular"/>
              </a:rPr>
              <a:t>  </a:t>
            </a:r>
          </a:p>
          <a:p>
            <a:endParaRPr lang="cs-CZ" dirty="0">
              <a:latin typeface="ThiemeGulliver2011-Regular"/>
            </a:endParaRPr>
          </a:p>
          <a:p>
            <a:r>
              <a:rPr lang="cs-CZ" dirty="0" err="1">
                <a:latin typeface="ThiemeGulliver2011-Regular"/>
              </a:rPr>
              <a:t>Normal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variants</a:t>
            </a:r>
            <a:r>
              <a:rPr lang="cs-CZ" dirty="0">
                <a:latin typeface="ThiemeGulliver2011-Regular"/>
              </a:rPr>
              <a:t>:</a:t>
            </a:r>
          </a:p>
          <a:p>
            <a:r>
              <a:rPr lang="cs-CZ" sz="800" b="0" i="0" u="none" strike="noStrike" baseline="0" dirty="0">
                <a:latin typeface="ThiemeGulliver2011-Regular"/>
              </a:rPr>
              <a:t>○ </a:t>
            </a:r>
            <a:r>
              <a:rPr lang="cs-CZ" dirty="0">
                <a:latin typeface="ThiemeGulliver2011-Regular"/>
              </a:rPr>
              <a:t>Cavum septum </a:t>
            </a:r>
            <a:r>
              <a:rPr lang="cs-CZ" dirty="0" err="1">
                <a:latin typeface="ThiemeGulliver2011-Regular"/>
              </a:rPr>
              <a:t>pellucidum</a:t>
            </a:r>
            <a:r>
              <a:rPr lang="cs-CZ" dirty="0">
                <a:latin typeface="ThiemeGulliver2011-Regular"/>
              </a:rPr>
              <a:t> (</a:t>
            </a:r>
            <a:r>
              <a:rPr lang="cs-CZ" dirty="0" err="1">
                <a:latin typeface="ThiemeGulliver2011-Regular"/>
              </a:rPr>
              <a:t>anterior</a:t>
            </a:r>
            <a:r>
              <a:rPr lang="cs-CZ" dirty="0">
                <a:latin typeface="ThiemeGulliver2011-Regular"/>
              </a:rPr>
              <a:t>) and/</a:t>
            </a:r>
            <a:r>
              <a:rPr lang="cs-CZ" dirty="0" err="1">
                <a:latin typeface="ThiemeGulliver2011-Regular"/>
              </a:rPr>
              <a:t>or</a:t>
            </a:r>
            <a:r>
              <a:rPr lang="cs-CZ" dirty="0">
                <a:latin typeface="ThiemeGulliver2011-Regular"/>
              </a:rPr>
              <a:t> cavum septum </a:t>
            </a:r>
            <a:r>
              <a:rPr lang="cs-CZ" dirty="0" err="1">
                <a:latin typeface="ThiemeGulliver2011-Regular"/>
              </a:rPr>
              <a:t>vergae</a:t>
            </a:r>
            <a:r>
              <a:rPr lang="cs-CZ" dirty="0">
                <a:latin typeface="ThiemeGulliver2011-Regular"/>
              </a:rPr>
              <a:t> (</a:t>
            </a:r>
            <a:r>
              <a:rPr lang="cs-CZ" dirty="0" err="1">
                <a:latin typeface="ThiemeGulliver2011-Regular"/>
              </a:rPr>
              <a:t>posterior</a:t>
            </a:r>
            <a:r>
              <a:rPr lang="cs-CZ" dirty="0">
                <a:latin typeface="ThiemeGulliver2011-Regular"/>
              </a:rPr>
              <a:t>): </a:t>
            </a:r>
            <a:r>
              <a:rPr lang="cs-CZ" dirty="0" err="1">
                <a:latin typeface="ThiemeGulliver2011-Regular"/>
              </a:rPr>
              <a:t>Nonobliteration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of</a:t>
            </a:r>
            <a:endParaRPr lang="cs-CZ" dirty="0">
              <a:latin typeface="ThiemeGulliver2011-Regular"/>
            </a:endParaRPr>
          </a:p>
          <a:p>
            <a:r>
              <a:rPr lang="en-US" dirty="0">
                <a:latin typeface="ThiemeGulliver2011-Regular"/>
              </a:rPr>
              <a:t>the potential space between the leaflets of the septum pellucidum</a:t>
            </a:r>
          </a:p>
          <a:p>
            <a:r>
              <a:rPr lang="en-US" sz="800" b="0" i="0" u="none" strike="noStrike" baseline="0" dirty="0">
                <a:latin typeface="ThiemeGulliver2011-Regular"/>
              </a:rPr>
              <a:t>○ </a:t>
            </a:r>
            <a:r>
              <a:rPr lang="en-US" dirty="0">
                <a:latin typeface="ThiemeGulliver2011-Regular"/>
              </a:rPr>
              <a:t>Cavum velum </a:t>
            </a:r>
            <a:r>
              <a:rPr lang="en-US" dirty="0" err="1">
                <a:latin typeface="ThiemeGulliver2011-Regular"/>
              </a:rPr>
              <a:t>interpositum</a:t>
            </a:r>
            <a:r>
              <a:rPr lang="en-US" dirty="0">
                <a:latin typeface="ThiemeGulliver2011-Regular"/>
              </a:rPr>
              <a:t>: Dilated CSF-filled space involving the velum </a:t>
            </a:r>
            <a:r>
              <a:rPr lang="en-US" dirty="0" err="1">
                <a:latin typeface="ThiemeGulliver2011-Regular"/>
              </a:rPr>
              <a:t>interpositum</a:t>
            </a:r>
            <a:r>
              <a:rPr lang="en-US" dirty="0">
                <a:latin typeface="ThiemeGulliver2011-Regular"/>
              </a:rPr>
              <a:t>, which extends</a:t>
            </a:r>
          </a:p>
          <a:p>
            <a:r>
              <a:rPr lang="en-US" dirty="0">
                <a:latin typeface="ThiemeGulliver2011-Regular"/>
              </a:rPr>
              <a:t>from the foramina of </a:t>
            </a:r>
            <a:r>
              <a:rPr lang="en-US" dirty="0" err="1">
                <a:latin typeface="ThiemeGulliver2011-Regular"/>
              </a:rPr>
              <a:t>Monro</a:t>
            </a:r>
            <a:r>
              <a:rPr lang="en-US" dirty="0">
                <a:latin typeface="ThiemeGulliver2011-Regular"/>
              </a:rPr>
              <a:t> to the quadrigeminal cistern</a:t>
            </a:r>
            <a:endParaRPr lang="cs-CZ" dirty="0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582E4CA7-3E29-49E2-8FFA-F1E676FEC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606" y="0"/>
            <a:ext cx="61504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413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767C52F0-0176-49CF-B680-DECF55C63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801" y="0"/>
            <a:ext cx="7071199" cy="6521218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2279E64B-DCE0-4111-A0C5-C537DA9D96D2}"/>
              </a:ext>
            </a:extLst>
          </p:cNvPr>
          <p:cNvSpPr/>
          <p:nvPr/>
        </p:nvSpPr>
        <p:spPr>
          <a:xfrm>
            <a:off x="214604" y="892714"/>
            <a:ext cx="459066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Sagittal T2-weighted MRI of the brain</a:t>
            </a:r>
          </a:p>
        </p:txBody>
      </p:sp>
    </p:spTree>
    <p:extLst>
      <p:ext uri="{BB962C8B-B14F-4D97-AF65-F5344CB8AC3E}">
        <p14:creationId xmlns:p14="http://schemas.microsoft.com/office/powerpoint/2010/main" val="30073699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767C52F0-0176-49CF-B680-DECF55C63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801" y="0"/>
            <a:ext cx="7071199" cy="6521218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2279E64B-DCE0-4111-A0C5-C537DA9D96D2}"/>
              </a:ext>
            </a:extLst>
          </p:cNvPr>
          <p:cNvSpPr/>
          <p:nvPr/>
        </p:nvSpPr>
        <p:spPr>
          <a:xfrm>
            <a:off x="214604" y="892714"/>
            <a:ext cx="4590661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Sagittal T2-weighted MRI of the brain</a:t>
            </a:r>
          </a:p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 err="1">
                <a:latin typeface="ThiemeGulliver2011-Regular"/>
              </a:rPr>
              <a:t>Quadrigeminal</a:t>
            </a:r>
            <a:r>
              <a:rPr lang="cs-CZ" dirty="0">
                <a:latin typeface="ThiemeGulliver2011-Regular"/>
              </a:rPr>
              <a:t> (</a:t>
            </a:r>
            <a:r>
              <a:rPr lang="cs-CZ" dirty="0" err="1">
                <a:latin typeface="ThiemeGulliver2011-Regular"/>
              </a:rPr>
              <a:t>tectal</a:t>
            </a:r>
            <a:r>
              <a:rPr lang="cs-CZ" dirty="0">
                <a:latin typeface="ThiemeGulliver2011-Regular"/>
              </a:rPr>
              <a:t>) plate</a:t>
            </a:r>
          </a:p>
          <a:p>
            <a:r>
              <a:rPr lang="en-US" dirty="0">
                <a:latin typeface="ThiemeGulliver2011-Regular"/>
              </a:rPr>
              <a:t>• The quadrigeminal plate is the dorsal portion of the midbrain.</a:t>
            </a:r>
          </a:p>
          <a:p>
            <a:r>
              <a:rPr lang="en-US" dirty="0">
                <a:latin typeface="ThiemeGulliver2011-Regular"/>
              </a:rPr>
              <a:t>• It is made up of the paired superior and inferior colliculi. It is responsible for visual and auditory</a:t>
            </a:r>
          </a:p>
          <a:p>
            <a:r>
              <a:rPr lang="cs-CZ" dirty="0" err="1">
                <a:latin typeface="ThiemeGulliver2011-Regular"/>
              </a:rPr>
              <a:t>reflexes</a:t>
            </a:r>
            <a:r>
              <a:rPr lang="cs-CZ" dirty="0">
                <a:latin typeface="ThiemeGulliver2011-Regular"/>
              </a:rPr>
              <a:t>.</a:t>
            </a:r>
          </a:p>
          <a:p>
            <a:r>
              <a:rPr lang="en-US" dirty="0">
                <a:latin typeface="ThiemeGulliver2011-Regular"/>
              </a:rPr>
              <a:t>• The quadrigeminal plate is located within the quadrigeminal cistern.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931880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ED3DE099-8865-471E-A09B-0F64DCB55D91}"/>
              </a:ext>
            </a:extLst>
          </p:cNvPr>
          <p:cNvSpPr/>
          <p:nvPr/>
        </p:nvSpPr>
        <p:spPr>
          <a:xfrm>
            <a:off x="129309" y="769756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MR angiogram</a:t>
            </a:r>
            <a:endParaRPr lang="cs-CZ" dirty="0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4CB5F5CE-D631-4B56-BD91-E790ED9AB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744" y="689971"/>
            <a:ext cx="5309419" cy="473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4195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ED3DE099-8865-471E-A09B-0F64DCB55D91}"/>
              </a:ext>
            </a:extLst>
          </p:cNvPr>
          <p:cNvSpPr/>
          <p:nvPr/>
        </p:nvSpPr>
        <p:spPr>
          <a:xfrm>
            <a:off x="129309" y="769756"/>
            <a:ext cx="6096000" cy="498598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MR angiogram with MIP image of the circle of</a:t>
            </a:r>
          </a:p>
          <a:p>
            <a:r>
              <a:rPr lang="cs-CZ" sz="4000" b="1" i="0" u="none" strike="noStrike" baseline="0" dirty="0" err="1">
                <a:latin typeface="ThiemeArgo2011-Bold"/>
              </a:rPr>
              <a:t>Willis</a:t>
            </a:r>
            <a:endParaRPr lang="cs-CZ" sz="4000" b="1" i="0" u="none" strike="noStrike" baseline="0" dirty="0">
              <a:latin typeface="ThiemeArgo2011-Bold"/>
            </a:endParaRPr>
          </a:p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 err="1">
                <a:latin typeface="ThiemeGulliver2011-Regular"/>
              </a:rPr>
              <a:t>Basilar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artery</a:t>
            </a:r>
            <a:endParaRPr lang="cs-CZ" dirty="0">
              <a:latin typeface="ThiemeGulliver2011-Regular"/>
            </a:endParaRPr>
          </a:p>
          <a:p>
            <a:r>
              <a:rPr lang="en-US" dirty="0">
                <a:latin typeface="ThiemeGulliver2011-Regular"/>
              </a:rPr>
              <a:t>• It is vital to </a:t>
            </a:r>
            <a:r>
              <a:rPr lang="en-US" dirty="0" err="1">
                <a:latin typeface="ThiemeGulliver2011-Regular"/>
              </a:rPr>
              <a:t>memorise</a:t>
            </a:r>
            <a:r>
              <a:rPr lang="en-US" dirty="0">
                <a:latin typeface="ThiemeGulliver2011-Regular"/>
              </a:rPr>
              <a:t> the components that form the circle of Willis because it is a common examination</a:t>
            </a:r>
          </a:p>
          <a:p>
            <a:r>
              <a:rPr lang="cs-CZ" dirty="0" err="1">
                <a:latin typeface="ThiemeGulliver2011-Regular"/>
              </a:rPr>
              <a:t>question</a:t>
            </a:r>
            <a:r>
              <a:rPr lang="cs-CZ" dirty="0">
                <a:latin typeface="ThiemeGulliver2011-Regular"/>
              </a:rPr>
              <a:t>.</a:t>
            </a:r>
          </a:p>
          <a:p>
            <a:r>
              <a:rPr lang="en-US" dirty="0">
                <a:latin typeface="ThiemeGulliver2011-Regular"/>
              </a:rPr>
              <a:t>• The basilar artery is an unpaired vessel that is formed by the union of the two vertebral arteries.</a:t>
            </a:r>
          </a:p>
          <a:p>
            <a:r>
              <a:rPr lang="en-US" dirty="0">
                <a:latin typeface="ThiemeGulliver2011-Regular"/>
              </a:rPr>
              <a:t>• It lies close to the midline in most people but can deviate to one side away from the dominant vertebral</a:t>
            </a:r>
          </a:p>
          <a:p>
            <a:r>
              <a:rPr lang="cs-CZ" dirty="0" err="1">
                <a:latin typeface="ThiemeGulliver2011-Regular"/>
              </a:rPr>
              <a:t>artery</a:t>
            </a:r>
            <a:r>
              <a:rPr lang="cs-CZ" dirty="0">
                <a:latin typeface="ThiemeGulliver2011-Regular"/>
              </a:rPr>
              <a:t>.</a:t>
            </a:r>
          </a:p>
          <a:p>
            <a:r>
              <a:rPr lang="en-US" dirty="0">
                <a:latin typeface="ThiemeGulliver2011-Regular"/>
              </a:rPr>
              <a:t>• It terminates by dividing into the left and right posterior cerebral arteries.</a:t>
            </a:r>
            <a:endParaRPr lang="cs-CZ" dirty="0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4CB5F5CE-D631-4B56-BD91-E790ED9AB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744" y="689971"/>
            <a:ext cx="5309419" cy="473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4191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60E123BF-252D-4040-B3FF-91DD16639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690" y="0"/>
            <a:ext cx="6306351" cy="6449678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5E3FD054-B20E-4B5C-AD74-AF8E64646F70}"/>
              </a:ext>
            </a:extLst>
          </p:cNvPr>
          <p:cNvSpPr/>
          <p:nvPr/>
        </p:nvSpPr>
        <p:spPr>
          <a:xfrm>
            <a:off x="323272" y="966742"/>
            <a:ext cx="460894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Coronal FLAIR MRI of the brain</a:t>
            </a:r>
          </a:p>
        </p:txBody>
      </p:sp>
    </p:spTree>
    <p:extLst>
      <p:ext uri="{BB962C8B-B14F-4D97-AF65-F5344CB8AC3E}">
        <p14:creationId xmlns:p14="http://schemas.microsoft.com/office/powerpoint/2010/main" val="277124541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60E123BF-252D-4040-B3FF-91DD16639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690" y="0"/>
            <a:ext cx="6306351" cy="6449678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5E3FD054-B20E-4B5C-AD74-AF8E64646F70}"/>
              </a:ext>
            </a:extLst>
          </p:cNvPr>
          <p:cNvSpPr/>
          <p:nvPr/>
        </p:nvSpPr>
        <p:spPr>
          <a:xfrm>
            <a:off x="323272" y="966742"/>
            <a:ext cx="4608946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Coronal FLAIR MRI of the brain</a:t>
            </a:r>
          </a:p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 err="1">
                <a:latin typeface="ThiemeGulliver2011-Regular"/>
              </a:rPr>
              <a:t>Left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cerebellar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hemisphere</a:t>
            </a:r>
            <a:endParaRPr lang="cs-CZ" dirty="0">
              <a:latin typeface="ThiemeGulliver2011-Regular"/>
            </a:endParaRPr>
          </a:p>
          <a:p>
            <a:r>
              <a:rPr lang="en-US" dirty="0">
                <a:latin typeface="ThiemeGulliver2011-Regular"/>
              </a:rPr>
              <a:t>• The cerebellum is an infratentorial structure in the posterior fossa.</a:t>
            </a:r>
          </a:p>
          <a:p>
            <a:r>
              <a:rPr lang="en-US" dirty="0">
                <a:latin typeface="ThiemeGulliver2011-Regular"/>
              </a:rPr>
              <a:t>• It is separated by the median cerebellar vermis into the right and left cerebellar hemispheres.</a:t>
            </a:r>
          </a:p>
          <a:p>
            <a:r>
              <a:rPr lang="en-US" dirty="0">
                <a:latin typeface="ThiemeGulliver2011-Regular"/>
              </a:rPr>
              <a:t>• The cerebellar hemispheres are separated into lobules by fissures (folia).</a:t>
            </a:r>
          </a:p>
          <a:p>
            <a:r>
              <a:rPr lang="en-US" dirty="0">
                <a:latin typeface="ThiemeGulliver2011-Regular"/>
              </a:rPr>
              <a:t>• The cerebellum is connected to the brainstem via three cerebellar peduncles:</a:t>
            </a:r>
          </a:p>
          <a:p>
            <a:r>
              <a:rPr lang="en-US" sz="800" b="0" i="0" u="none" strike="noStrike" baseline="0" dirty="0">
                <a:latin typeface="ThiemeGulliver2011-Regular"/>
              </a:rPr>
              <a:t>○ </a:t>
            </a:r>
            <a:r>
              <a:rPr lang="en-US" dirty="0">
                <a:latin typeface="ThiemeGulliver2011-Regular"/>
              </a:rPr>
              <a:t>Superior peduncle connects to the midbrain</a:t>
            </a:r>
          </a:p>
          <a:p>
            <a:r>
              <a:rPr lang="en-US" sz="800" b="0" i="0" u="none" strike="noStrike" baseline="0" dirty="0">
                <a:latin typeface="ThiemeGulliver2011-Regular"/>
              </a:rPr>
              <a:t>○ </a:t>
            </a:r>
            <a:r>
              <a:rPr lang="en-US" dirty="0">
                <a:latin typeface="ThiemeGulliver2011-Regular"/>
              </a:rPr>
              <a:t>Middle peduncle connects to the pons</a:t>
            </a:r>
          </a:p>
          <a:p>
            <a:r>
              <a:rPr lang="en-US" sz="800" b="0" i="0" u="none" strike="noStrike" baseline="0" dirty="0">
                <a:latin typeface="ThiemeGulliver2011-Regular"/>
              </a:rPr>
              <a:t>○ </a:t>
            </a:r>
            <a:r>
              <a:rPr lang="en-US" dirty="0">
                <a:latin typeface="ThiemeGulliver2011-Regular"/>
              </a:rPr>
              <a:t>Inferior peduncle connects to the base of the pons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7530102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3C81D41C-8649-47CB-B293-8577E1A80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582" y="285140"/>
            <a:ext cx="7072969" cy="6572860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A46DF3B6-B947-4DED-AF34-8F01515616C4}"/>
              </a:ext>
            </a:extLst>
          </p:cNvPr>
          <p:cNvSpPr/>
          <p:nvPr/>
        </p:nvSpPr>
        <p:spPr>
          <a:xfrm>
            <a:off x="701964" y="661710"/>
            <a:ext cx="398087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Sagittal T2-weighted MRI of the brain</a:t>
            </a:r>
          </a:p>
        </p:txBody>
      </p:sp>
    </p:spTree>
    <p:extLst>
      <p:ext uri="{BB962C8B-B14F-4D97-AF65-F5344CB8AC3E}">
        <p14:creationId xmlns:p14="http://schemas.microsoft.com/office/powerpoint/2010/main" val="2902314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3C81D41C-8649-47CB-B293-8577E1A80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582" y="285140"/>
            <a:ext cx="7072969" cy="6572860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A46DF3B6-B947-4DED-AF34-8F01515616C4}"/>
              </a:ext>
            </a:extLst>
          </p:cNvPr>
          <p:cNvSpPr/>
          <p:nvPr/>
        </p:nvSpPr>
        <p:spPr>
          <a:xfrm>
            <a:off x="701964" y="661710"/>
            <a:ext cx="3980872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Sagittal T2-weighted MRI of the brain</a:t>
            </a:r>
          </a:p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 err="1">
                <a:latin typeface="ThiemeGulliver2011-Regular"/>
              </a:rPr>
              <a:t>Cingulate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gyrus</a:t>
            </a:r>
            <a:endParaRPr lang="cs-CZ" dirty="0">
              <a:latin typeface="ThiemeGulliver2011-Regular"/>
            </a:endParaRPr>
          </a:p>
          <a:p>
            <a:r>
              <a:rPr lang="en-US" dirty="0">
                <a:latin typeface="ThiemeGulliver2011-Regular"/>
              </a:rPr>
              <a:t>• The cingulate gyrus is a midline curved structure that lies inferior to the frontal lobes and superior to</a:t>
            </a:r>
          </a:p>
          <a:p>
            <a:r>
              <a:rPr lang="cs-CZ" dirty="0" err="1">
                <a:latin typeface="ThiemeGulliver2011-Regular"/>
              </a:rPr>
              <a:t>the</a:t>
            </a:r>
            <a:r>
              <a:rPr lang="cs-CZ" dirty="0">
                <a:latin typeface="ThiemeGulliver2011-Regular"/>
              </a:rPr>
              <a:t> corpus </a:t>
            </a:r>
            <a:r>
              <a:rPr lang="cs-CZ" dirty="0" err="1">
                <a:latin typeface="ThiemeGulliver2011-Regular"/>
              </a:rPr>
              <a:t>callosum</a:t>
            </a:r>
            <a:r>
              <a:rPr lang="cs-CZ" dirty="0">
                <a:latin typeface="ThiemeGulliver2011-Regular"/>
              </a:rPr>
              <a:t>.</a:t>
            </a:r>
          </a:p>
          <a:p>
            <a:r>
              <a:rPr lang="en-US" dirty="0">
                <a:latin typeface="ThiemeGulliver2011-Regular"/>
              </a:rPr>
              <a:t>• It is separated from the corpus callosum by the cingulate sulcus.</a:t>
            </a:r>
          </a:p>
          <a:p>
            <a:r>
              <a:rPr lang="en-US" dirty="0">
                <a:latin typeface="ThiemeGulliver2011-Regular"/>
              </a:rPr>
              <a:t>• The cingulate gyrus forms part of the limbic system.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072450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0F2869CF-4476-43FA-9E06-93FFD1618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836" y="187433"/>
            <a:ext cx="4994787" cy="6483133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460FBF65-BB05-4200-8F03-8B0A78266408}"/>
              </a:ext>
            </a:extLst>
          </p:cNvPr>
          <p:cNvSpPr/>
          <p:nvPr/>
        </p:nvSpPr>
        <p:spPr>
          <a:xfrm>
            <a:off x="249381" y="1059119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Coronal MRI of the brain</a:t>
            </a:r>
          </a:p>
        </p:txBody>
      </p:sp>
    </p:spTree>
    <p:extLst>
      <p:ext uri="{BB962C8B-B14F-4D97-AF65-F5344CB8AC3E}">
        <p14:creationId xmlns:p14="http://schemas.microsoft.com/office/powerpoint/2010/main" val="19160925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0F2869CF-4476-43FA-9E06-93FFD1618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836" y="187433"/>
            <a:ext cx="4994787" cy="6483133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460FBF65-BB05-4200-8F03-8B0A78266408}"/>
              </a:ext>
            </a:extLst>
          </p:cNvPr>
          <p:cNvSpPr/>
          <p:nvPr/>
        </p:nvSpPr>
        <p:spPr>
          <a:xfrm>
            <a:off x="249381" y="1059119"/>
            <a:ext cx="6096000" cy="236988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Coronal MRI of the brain</a:t>
            </a:r>
          </a:p>
          <a:p>
            <a:r>
              <a:rPr lang="en-US" b="1" dirty="0">
                <a:latin typeface="ThiemeGulliver2011-Bold"/>
              </a:rPr>
              <a:t>Answer: </a:t>
            </a:r>
            <a:r>
              <a:rPr lang="en-US" dirty="0">
                <a:latin typeface="ThiemeGulliver2011-Regular"/>
              </a:rPr>
              <a:t>Aqueduct of Sylvius (cerebral aqueduct)</a:t>
            </a:r>
          </a:p>
          <a:p>
            <a:r>
              <a:rPr lang="en-US" dirty="0">
                <a:latin typeface="ThiemeGulliver2011-Regular"/>
              </a:rPr>
              <a:t>• The aqueduct of Sylvius is a thin, midline tube that connects the third ventricle to the fourth ventricle.</a:t>
            </a:r>
          </a:p>
          <a:p>
            <a:r>
              <a:rPr lang="en-US" dirty="0">
                <a:latin typeface="ThiemeGulliver2011-Regular"/>
              </a:rPr>
              <a:t>• It is located in the midbrain between the pons (anterior) and the cerebellum (posterior).</a:t>
            </a:r>
          </a:p>
          <a:p>
            <a:r>
              <a:rPr lang="en-US" dirty="0">
                <a:latin typeface="ThiemeGulliver2011-Regular"/>
              </a:rPr>
              <a:t>• It is filled with cerebrospinal fluid.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7013796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0678E6B2-F5DC-4B3A-85E2-0F9C71BB3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282" y="313981"/>
            <a:ext cx="7257811" cy="6424507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AD87A931-85B2-4873-B574-44567053F7C5}"/>
              </a:ext>
            </a:extLst>
          </p:cNvPr>
          <p:cNvSpPr/>
          <p:nvPr/>
        </p:nvSpPr>
        <p:spPr>
          <a:xfrm>
            <a:off x="71911" y="1040733"/>
            <a:ext cx="45097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Sagittal T2-weighted MRI of the brain</a:t>
            </a:r>
          </a:p>
        </p:txBody>
      </p:sp>
    </p:spTree>
    <p:extLst>
      <p:ext uri="{BB962C8B-B14F-4D97-AF65-F5344CB8AC3E}">
        <p14:creationId xmlns:p14="http://schemas.microsoft.com/office/powerpoint/2010/main" val="279366397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0678E6B2-F5DC-4B3A-85E2-0F9C71BB3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282" y="313981"/>
            <a:ext cx="7257811" cy="6424507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AD87A931-85B2-4873-B574-44567053F7C5}"/>
              </a:ext>
            </a:extLst>
          </p:cNvPr>
          <p:cNvSpPr/>
          <p:nvPr/>
        </p:nvSpPr>
        <p:spPr>
          <a:xfrm>
            <a:off x="108857" y="1059206"/>
            <a:ext cx="4509796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Sagittal T2-weighted MRI of the brain</a:t>
            </a:r>
          </a:p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 err="1">
                <a:latin typeface="ThiemeGulliver2011-Regular"/>
              </a:rPr>
              <a:t>Cerebellar</a:t>
            </a:r>
            <a:r>
              <a:rPr lang="cs-CZ" dirty="0">
                <a:latin typeface="ThiemeGulliver2011-Regular"/>
              </a:rPr>
              <a:t> tonsil</a:t>
            </a:r>
          </a:p>
          <a:p>
            <a:r>
              <a:rPr lang="en-US" dirty="0">
                <a:latin typeface="ThiemeGulliver2011-Regular"/>
              </a:rPr>
              <a:t>• The cerebellar tonsil is the most inferior lobule of the cerebellar hemisphere.</a:t>
            </a:r>
          </a:p>
          <a:p>
            <a:r>
              <a:rPr lang="en-US" dirty="0">
                <a:latin typeface="ThiemeGulliver2011-Regular"/>
              </a:rPr>
              <a:t>• It lies posterior to the medulla.</a:t>
            </a:r>
          </a:p>
          <a:p>
            <a:r>
              <a:rPr lang="en-US" dirty="0">
                <a:latin typeface="ThiemeGulliver2011-Regular"/>
              </a:rPr>
              <a:t>• Its inferior tip lies above or at the level of the foramen magnum.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6441598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C83CE062-EC3B-4E53-B061-468D1778F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345" y="128638"/>
            <a:ext cx="5234933" cy="6689082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3C718E0C-EFCC-4E24-8545-226317AD5DC3}"/>
              </a:ext>
            </a:extLst>
          </p:cNvPr>
          <p:cNvSpPr/>
          <p:nvPr/>
        </p:nvSpPr>
        <p:spPr>
          <a:xfrm>
            <a:off x="314037" y="1668474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T2-weighted MRI of the brain</a:t>
            </a:r>
          </a:p>
        </p:txBody>
      </p:sp>
    </p:spTree>
    <p:extLst>
      <p:ext uri="{BB962C8B-B14F-4D97-AF65-F5344CB8AC3E}">
        <p14:creationId xmlns:p14="http://schemas.microsoft.com/office/powerpoint/2010/main" val="326015630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C83CE062-EC3B-4E53-B061-468D1778F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345" y="128638"/>
            <a:ext cx="5234933" cy="6689082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3C718E0C-EFCC-4E24-8545-226317AD5DC3}"/>
              </a:ext>
            </a:extLst>
          </p:cNvPr>
          <p:cNvSpPr/>
          <p:nvPr/>
        </p:nvSpPr>
        <p:spPr>
          <a:xfrm>
            <a:off x="314037" y="1668474"/>
            <a:ext cx="6096000" cy="32624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T2-weighted MRI of the brain</a:t>
            </a:r>
          </a:p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>
                <a:latin typeface="ThiemeGulliver2011-Regular"/>
              </a:rPr>
              <a:t>Cisterna </a:t>
            </a:r>
            <a:r>
              <a:rPr lang="cs-CZ" dirty="0" err="1">
                <a:latin typeface="ThiemeGulliver2011-Regular"/>
              </a:rPr>
              <a:t>magna</a:t>
            </a:r>
            <a:endParaRPr lang="cs-CZ" dirty="0">
              <a:latin typeface="ThiemeGulliver2011-Regular"/>
            </a:endParaRPr>
          </a:p>
          <a:p>
            <a:r>
              <a:rPr lang="en-US" dirty="0">
                <a:latin typeface="ThiemeGulliver2011-Regular"/>
              </a:rPr>
              <a:t>• The cisterna magna is a cerebrospinal fluid–filled arachnoid space in the posterior fossa.</a:t>
            </a:r>
          </a:p>
          <a:p>
            <a:r>
              <a:rPr lang="en-US" dirty="0">
                <a:latin typeface="ThiemeGulliver2011-Regular"/>
              </a:rPr>
              <a:t>• It is situated between the cerebellar hemispheres and posterior to the inferior aspect of the medulla.</a:t>
            </a:r>
          </a:p>
          <a:p>
            <a:r>
              <a:rPr lang="en-US" dirty="0">
                <a:latin typeface="ThiemeGulliver2011-Regular"/>
              </a:rPr>
              <a:t>• It is connected to the fourth ventricle via the foramina of Luschka and Magendie.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4406233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49AC8FCF-B231-42C0-A1D3-683755B33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581" y="63910"/>
            <a:ext cx="5309419" cy="679409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7EE7F547-A59D-4B45-9080-3BFDF92F5690}"/>
              </a:ext>
            </a:extLst>
          </p:cNvPr>
          <p:cNvSpPr/>
          <p:nvPr/>
        </p:nvSpPr>
        <p:spPr>
          <a:xfrm>
            <a:off x="295564" y="1206520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T2-weighted MRI of the brain</a:t>
            </a:r>
          </a:p>
        </p:txBody>
      </p:sp>
    </p:spTree>
    <p:extLst>
      <p:ext uri="{BB962C8B-B14F-4D97-AF65-F5344CB8AC3E}">
        <p14:creationId xmlns:p14="http://schemas.microsoft.com/office/powerpoint/2010/main" val="316391491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49AC8FCF-B231-42C0-A1D3-683755B33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581" y="63910"/>
            <a:ext cx="5309419" cy="679409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7EE7F547-A59D-4B45-9080-3BFDF92F5690}"/>
              </a:ext>
            </a:extLst>
          </p:cNvPr>
          <p:cNvSpPr/>
          <p:nvPr/>
        </p:nvSpPr>
        <p:spPr>
          <a:xfrm>
            <a:off x="295564" y="1206520"/>
            <a:ext cx="6096000" cy="243143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T2-weighted MRI of the brain</a:t>
            </a:r>
          </a:p>
          <a:p>
            <a:r>
              <a:rPr lang="en-US" b="1" dirty="0">
                <a:latin typeface="ThiemeGulliver2011-Bold"/>
              </a:rPr>
              <a:t>Answer: </a:t>
            </a:r>
            <a:r>
              <a:rPr lang="en-US" dirty="0">
                <a:latin typeface="ThiemeGulliver2011-Regular"/>
              </a:rPr>
              <a:t>Genu of corpus callosum</a:t>
            </a:r>
          </a:p>
          <a:p>
            <a:r>
              <a:rPr lang="en-US" dirty="0">
                <a:latin typeface="ThiemeGulliver2011-Regular"/>
              </a:rPr>
              <a:t>• The genu is the anterior pole of the corpus callosum.</a:t>
            </a:r>
          </a:p>
          <a:p>
            <a:r>
              <a:rPr lang="en-US" dirty="0">
                <a:latin typeface="ThiemeGulliver2011-Regular"/>
              </a:rPr>
              <a:t>• Genu is Latin for ‘knee’. Notice its shape when viewed in the sagittal plane.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2568927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17844AE8-47E3-44F3-830E-8740F9A3B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526" y="352545"/>
            <a:ext cx="5309419" cy="5968181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1A06F2E8-9FEB-43B8-9638-A3C6B9F80712}"/>
              </a:ext>
            </a:extLst>
          </p:cNvPr>
          <p:cNvSpPr/>
          <p:nvPr/>
        </p:nvSpPr>
        <p:spPr>
          <a:xfrm>
            <a:off x="147782" y="352545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MR angiogram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0601795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17844AE8-47E3-44F3-830E-8740F9A3B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526" y="352545"/>
            <a:ext cx="5309419" cy="5968181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1A06F2E8-9FEB-43B8-9638-A3C6B9F80712}"/>
              </a:ext>
            </a:extLst>
          </p:cNvPr>
          <p:cNvSpPr/>
          <p:nvPr/>
        </p:nvSpPr>
        <p:spPr>
          <a:xfrm>
            <a:off x="147782" y="352545"/>
            <a:ext cx="6096000" cy="54784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MR angiogram of the circle of Willis (MIP image)</a:t>
            </a:r>
          </a:p>
          <a:p>
            <a:r>
              <a:rPr lang="en-US" b="1" dirty="0">
                <a:latin typeface="ThiemeGulliver2011-Bold"/>
              </a:rPr>
              <a:t>Answer: </a:t>
            </a:r>
            <a:r>
              <a:rPr lang="en-US" dirty="0">
                <a:latin typeface="ThiemeGulliver2011-Regular"/>
              </a:rPr>
              <a:t> middle cerebral artery</a:t>
            </a:r>
          </a:p>
          <a:p>
            <a:r>
              <a:rPr lang="en-US" dirty="0">
                <a:latin typeface="ThiemeGulliver2011-Regular"/>
              </a:rPr>
              <a:t>• The middle cerebral artery (MCA) is the largest branch of the internal carotid artery.</a:t>
            </a:r>
          </a:p>
          <a:p>
            <a:r>
              <a:rPr lang="en-US" dirty="0">
                <a:latin typeface="ThiemeGulliver2011-Regular"/>
              </a:rPr>
              <a:t>• It does not actually form one of the sides of the pentagon that is the circle of Willis.</a:t>
            </a:r>
          </a:p>
          <a:p>
            <a:r>
              <a:rPr lang="en-US" dirty="0">
                <a:latin typeface="ThiemeGulliver2011-Regular"/>
              </a:rPr>
              <a:t>• Instead, it branches from the internal carotid artery and travels laterally into the insula toward the cortex</a:t>
            </a:r>
          </a:p>
          <a:p>
            <a:r>
              <a:rPr lang="cs-CZ" dirty="0" err="1">
                <a:latin typeface="ThiemeGulliver2011-Regular"/>
              </a:rPr>
              <a:t>where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it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terminates</a:t>
            </a:r>
            <a:r>
              <a:rPr lang="cs-CZ" dirty="0">
                <a:latin typeface="ThiemeGulliver2011-Regular"/>
              </a:rPr>
              <a:t>.</a:t>
            </a:r>
          </a:p>
          <a:p>
            <a:r>
              <a:rPr lang="en-US" dirty="0">
                <a:latin typeface="ThiemeGulliver2011-Regular"/>
              </a:rPr>
              <a:t>• The MCA and its branches supply the basal ganglia, the anterior part of the internal capsule, the lateral</a:t>
            </a:r>
          </a:p>
          <a:p>
            <a:r>
              <a:rPr lang="en-US" dirty="0">
                <a:latin typeface="ThiemeGulliver2011-Regular"/>
              </a:rPr>
              <a:t>cerebral cortex, the anterior temporal lobe, and the insular cortex.</a:t>
            </a:r>
          </a:p>
          <a:p>
            <a:r>
              <a:rPr lang="en-US" dirty="0">
                <a:latin typeface="ThiemeGulliver2011-Regular"/>
              </a:rPr>
              <a:t>• The segment from the origin to the bifurcation/trifurcation is referred to as the M1 segment (as shown</a:t>
            </a:r>
          </a:p>
          <a:p>
            <a:r>
              <a:rPr lang="cs-CZ" dirty="0">
                <a:latin typeface="ThiemeGulliver2011-Regular"/>
              </a:rPr>
              <a:t>in </a:t>
            </a:r>
            <a:r>
              <a:rPr lang="cs-CZ" dirty="0" err="1">
                <a:latin typeface="ThiemeGulliver2011-Regular"/>
              </a:rPr>
              <a:t>the</a:t>
            </a:r>
            <a:r>
              <a:rPr lang="cs-CZ" dirty="0">
                <a:latin typeface="ThiemeGulliver2011-Regular"/>
              </a:rPr>
              <a:t> image).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4276787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EF3359D9-FE87-4A2E-A290-2A6AAE85B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982" y="79477"/>
            <a:ext cx="5142569" cy="6700923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9871FEC6-898E-4A3A-8B52-9B7D3AEC3626}"/>
              </a:ext>
            </a:extLst>
          </p:cNvPr>
          <p:cNvSpPr/>
          <p:nvPr/>
        </p:nvSpPr>
        <p:spPr>
          <a:xfrm>
            <a:off x="471054" y="1788456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T2-weighted MRI of the brain</a:t>
            </a:r>
          </a:p>
        </p:txBody>
      </p:sp>
    </p:spTree>
    <p:extLst>
      <p:ext uri="{BB962C8B-B14F-4D97-AF65-F5344CB8AC3E}">
        <p14:creationId xmlns:p14="http://schemas.microsoft.com/office/powerpoint/2010/main" val="426558639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EF3359D9-FE87-4A2E-A290-2A6AAE85B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982" y="79477"/>
            <a:ext cx="5142569" cy="6700923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9871FEC6-898E-4A3A-8B52-9B7D3AEC3626}"/>
              </a:ext>
            </a:extLst>
          </p:cNvPr>
          <p:cNvSpPr/>
          <p:nvPr/>
        </p:nvSpPr>
        <p:spPr>
          <a:xfrm>
            <a:off x="471054" y="1788456"/>
            <a:ext cx="6096000" cy="270843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T2-weighted MRI of the brain</a:t>
            </a:r>
          </a:p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 err="1">
                <a:latin typeface="ThiemeGulliver2011-Regular"/>
              </a:rPr>
              <a:t>Right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putamen</a:t>
            </a:r>
            <a:endParaRPr lang="cs-CZ" dirty="0">
              <a:latin typeface="ThiemeGulliver2011-Regular"/>
            </a:endParaRPr>
          </a:p>
          <a:p>
            <a:r>
              <a:rPr lang="en-US" dirty="0">
                <a:latin typeface="ThiemeGulliver2011-Regular"/>
              </a:rPr>
              <a:t>• The putamen lies lateral to the anterior limb of the internal capsule and anterolateral to the globus pallidus.</a:t>
            </a:r>
          </a:p>
          <a:p>
            <a:r>
              <a:rPr lang="cs-CZ" dirty="0">
                <a:latin typeface="ThiemeGulliver2011-Regular"/>
              </a:rPr>
              <a:t>• </a:t>
            </a:r>
            <a:r>
              <a:rPr lang="cs-CZ" dirty="0" err="1">
                <a:latin typeface="ThiemeGulliver2011-Regular"/>
              </a:rPr>
              <a:t>Putamen</a:t>
            </a:r>
            <a:r>
              <a:rPr lang="cs-CZ" dirty="0">
                <a:latin typeface="ThiemeGulliver2011-Regular"/>
              </a:rPr>
              <a:t> + </a:t>
            </a:r>
            <a:r>
              <a:rPr lang="cs-CZ" dirty="0" err="1">
                <a:latin typeface="ThiemeGulliver2011-Regular"/>
              </a:rPr>
              <a:t>caudate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nucleus</a:t>
            </a:r>
            <a:r>
              <a:rPr lang="cs-CZ" dirty="0">
                <a:latin typeface="ThiemeGulliver2011-Regular"/>
              </a:rPr>
              <a:t> = </a:t>
            </a:r>
            <a:r>
              <a:rPr lang="cs-CZ" dirty="0" err="1">
                <a:latin typeface="ThiemeGulliver2011-Regular"/>
              </a:rPr>
              <a:t>striatum</a:t>
            </a:r>
            <a:endParaRPr lang="cs-CZ" dirty="0">
              <a:latin typeface="ThiemeGulliver2011-Regular"/>
            </a:endParaRPr>
          </a:p>
          <a:p>
            <a:r>
              <a:rPr lang="cs-CZ" dirty="0">
                <a:latin typeface="ThiemeGulliver2011-Regular"/>
              </a:rPr>
              <a:t>• </a:t>
            </a:r>
            <a:r>
              <a:rPr lang="cs-CZ" dirty="0" err="1">
                <a:latin typeface="ThiemeGulliver2011-Regular"/>
              </a:rPr>
              <a:t>Putamen</a:t>
            </a:r>
            <a:r>
              <a:rPr lang="cs-CZ" dirty="0">
                <a:latin typeface="ThiemeGulliver2011-Regular"/>
              </a:rPr>
              <a:t> + globus </a:t>
            </a:r>
            <a:r>
              <a:rPr lang="cs-CZ" dirty="0" err="1">
                <a:latin typeface="ThiemeGulliver2011-Regular"/>
              </a:rPr>
              <a:t>pallidus</a:t>
            </a:r>
            <a:r>
              <a:rPr lang="cs-CZ" dirty="0">
                <a:latin typeface="ThiemeGulliver2011-Regular"/>
              </a:rPr>
              <a:t> = </a:t>
            </a:r>
            <a:r>
              <a:rPr lang="cs-CZ" dirty="0" err="1">
                <a:latin typeface="ThiemeGulliver2011-Regular"/>
              </a:rPr>
              <a:t>lentiform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nucleus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0058635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D7A7178E-FEDA-4306-82C0-00E77C3EE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727" y="117435"/>
            <a:ext cx="5363675" cy="6758773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DEAFD499-F83F-488D-83F0-ADC2147C38E4}"/>
              </a:ext>
            </a:extLst>
          </p:cNvPr>
          <p:cNvSpPr/>
          <p:nvPr/>
        </p:nvSpPr>
        <p:spPr>
          <a:xfrm>
            <a:off x="304800" y="1384318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T2-weighted MRI of the brain</a:t>
            </a:r>
          </a:p>
        </p:txBody>
      </p:sp>
    </p:spTree>
    <p:extLst>
      <p:ext uri="{BB962C8B-B14F-4D97-AF65-F5344CB8AC3E}">
        <p14:creationId xmlns:p14="http://schemas.microsoft.com/office/powerpoint/2010/main" val="26254091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D7A7178E-FEDA-4306-82C0-00E77C3EE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727" y="117435"/>
            <a:ext cx="5363675" cy="6758773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DEAFD499-F83F-488D-83F0-ADC2147C38E4}"/>
              </a:ext>
            </a:extLst>
          </p:cNvPr>
          <p:cNvSpPr/>
          <p:nvPr/>
        </p:nvSpPr>
        <p:spPr>
          <a:xfrm>
            <a:off x="304800" y="1384318"/>
            <a:ext cx="6096000" cy="270843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Axial T2-weighted MRI of the brain</a:t>
            </a:r>
          </a:p>
          <a:p>
            <a:r>
              <a:rPr lang="en-US" b="1" dirty="0">
                <a:latin typeface="ThiemeGulliver2011-Bold"/>
              </a:rPr>
              <a:t>Answer: </a:t>
            </a:r>
            <a:r>
              <a:rPr lang="en-US" dirty="0">
                <a:latin typeface="ThiemeGulliver2011-Regular"/>
              </a:rPr>
              <a:t>Anterior limb of the right internal capsule</a:t>
            </a:r>
          </a:p>
          <a:p>
            <a:r>
              <a:rPr lang="en-US" dirty="0">
                <a:latin typeface="ThiemeGulliver2011-Regular"/>
              </a:rPr>
              <a:t>• This is a white matter tract that separates the caudate (medially) from the lentiform nucleus (laterally).</a:t>
            </a:r>
          </a:p>
          <a:p>
            <a:r>
              <a:rPr lang="en-US" dirty="0">
                <a:latin typeface="ThiemeGulliver2011-Regular"/>
              </a:rPr>
              <a:t>• It returns a lower signal on T2-weighted imaging relative to the lentiform nucleus.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5461408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54399C92-777E-474F-837D-14BBC6EFA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909" y="146664"/>
            <a:ext cx="6528024" cy="6577479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4CA73543-A448-4795-84AA-AEE9100456CD}"/>
              </a:ext>
            </a:extLst>
          </p:cNvPr>
          <p:cNvSpPr/>
          <p:nvPr/>
        </p:nvSpPr>
        <p:spPr>
          <a:xfrm>
            <a:off x="0" y="689557"/>
            <a:ext cx="473825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Sagittal T1-weighted MRI of the brain</a:t>
            </a:r>
          </a:p>
        </p:txBody>
      </p:sp>
    </p:spTree>
    <p:extLst>
      <p:ext uri="{BB962C8B-B14F-4D97-AF65-F5344CB8AC3E}">
        <p14:creationId xmlns:p14="http://schemas.microsoft.com/office/powerpoint/2010/main" val="136769840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54399C92-777E-474F-837D-14BBC6EFA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909" y="146664"/>
            <a:ext cx="6528024" cy="6577479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4CA73543-A448-4795-84AA-AEE9100456CD}"/>
              </a:ext>
            </a:extLst>
          </p:cNvPr>
          <p:cNvSpPr/>
          <p:nvPr/>
        </p:nvSpPr>
        <p:spPr>
          <a:xfrm>
            <a:off x="0" y="689557"/>
            <a:ext cx="4738255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Sagittal T1-weighted MRI of the brain</a:t>
            </a:r>
          </a:p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 err="1">
                <a:latin typeface="ThiemeGulliver2011-Regular"/>
              </a:rPr>
              <a:t>Anterior</a:t>
            </a:r>
            <a:r>
              <a:rPr lang="cs-CZ" dirty="0">
                <a:latin typeface="ThiemeGulliver2011-Regular"/>
              </a:rPr>
              <a:t> lobe </a:t>
            </a:r>
            <a:r>
              <a:rPr lang="cs-CZ" dirty="0" err="1">
                <a:latin typeface="ThiemeGulliver2011-Regular"/>
              </a:rPr>
              <a:t>of</a:t>
            </a:r>
            <a:r>
              <a:rPr lang="cs-CZ" dirty="0">
                <a:latin typeface="ThiemeGulliver2011-Regular"/>
              </a:rPr>
              <a:t>  </a:t>
            </a:r>
            <a:r>
              <a:rPr lang="cs-CZ" dirty="0" err="1">
                <a:latin typeface="ThiemeGulliver2011-Regular"/>
              </a:rPr>
              <a:t>pituitary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gland</a:t>
            </a:r>
            <a:endParaRPr lang="cs-CZ" dirty="0">
              <a:latin typeface="ThiemeGulliver2011-Regular"/>
            </a:endParaRPr>
          </a:p>
          <a:p>
            <a:r>
              <a:rPr lang="en-US" dirty="0">
                <a:latin typeface="ThiemeGulliver2011-Regular"/>
              </a:rPr>
              <a:t>• The pituitary gland is located in the </a:t>
            </a:r>
            <a:r>
              <a:rPr lang="en-US" dirty="0" err="1">
                <a:latin typeface="ThiemeGulliver2011-Regular"/>
              </a:rPr>
              <a:t>sella</a:t>
            </a:r>
            <a:r>
              <a:rPr lang="en-US" dirty="0">
                <a:latin typeface="ThiemeGulliver2011-Regular"/>
              </a:rPr>
              <a:t> turcica (Latin for ‘Turkish saddle’), inferior to the optic chiasm.</a:t>
            </a:r>
          </a:p>
          <a:p>
            <a:r>
              <a:rPr lang="en-US" dirty="0">
                <a:latin typeface="ThiemeGulliver2011-Regular"/>
              </a:rPr>
              <a:t>• It is connected to the hypothalamus via the infundibulum (stalk).</a:t>
            </a:r>
          </a:p>
          <a:p>
            <a:r>
              <a:rPr lang="en-US" dirty="0">
                <a:latin typeface="ThiemeGulliver2011-Regular"/>
              </a:rPr>
              <a:t>• It demonstrates strong contrast enhancement because it is not contained within the blood–brain</a:t>
            </a:r>
          </a:p>
          <a:p>
            <a:r>
              <a:rPr lang="cs-CZ" dirty="0" err="1">
                <a:latin typeface="ThiemeGulliver2011-Regular"/>
              </a:rPr>
              <a:t>barrier</a:t>
            </a:r>
            <a:r>
              <a:rPr lang="cs-CZ" dirty="0">
                <a:latin typeface="ThiemeGulliver2011-Regular"/>
              </a:rPr>
              <a:t>.</a:t>
            </a:r>
          </a:p>
          <a:p>
            <a:r>
              <a:rPr lang="en-US" dirty="0">
                <a:latin typeface="ThiemeGulliver2011-Regular"/>
              </a:rPr>
              <a:t>• The posterior pituitary gland is bright on a T1-weighted (unenhanced) scan.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8113077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CC8D809F-E194-45CA-B941-5DF8106C4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5379"/>
            <a:ext cx="6463368" cy="6708193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4715CD34-7C2C-4298-9D54-6C829C95E2B9}"/>
              </a:ext>
            </a:extLst>
          </p:cNvPr>
          <p:cNvSpPr/>
          <p:nvPr/>
        </p:nvSpPr>
        <p:spPr>
          <a:xfrm>
            <a:off x="94450" y="1215756"/>
            <a:ext cx="431129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Coronal T1-weighted MRI of the brain</a:t>
            </a:r>
          </a:p>
        </p:txBody>
      </p:sp>
    </p:spTree>
    <p:extLst>
      <p:ext uri="{BB962C8B-B14F-4D97-AF65-F5344CB8AC3E}">
        <p14:creationId xmlns:p14="http://schemas.microsoft.com/office/powerpoint/2010/main" val="226240327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CC8D809F-E194-45CA-B941-5DF8106C4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5379"/>
            <a:ext cx="6463368" cy="6708193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4715CD34-7C2C-4298-9D54-6C829C95E2B9}"/>
              </a:ext>
            </a:extLst>
          </p:cNvPr>
          <p:cNvSpPr/>
          <p:nvPr/>
        </p:nvSpPr>
        <p:spPr>
          <a:xfrm>
            <a:off x="242232" y="1326592"/>
            <a:ext cx="4311295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latin typeface="ThiemeArgo2011-Bold"/>
              </a:rPr>
              <a:t>Coronal T1-weighted MRI of the brain</a:t>
            </a:r>
          </a:p>
          <a:p>
            <a:r>
              <a:rPr lang="cs-CZ" b="1" dirty="0" err="1">
                <a:latin typeface="ThiemeGulliver2011-Bold"/>
              </a:rPr>
              <a:t>Answer</a:t>
            </a:r>
            <a:r>
              <a:rPr lang="cs-CZ" b="1" dirty="0">
                <a:latin typeface="ThiemeGulliver2011-Bold"/>
              </a:rPr>
              <a:t>: </a:t>
            </a:r>
            <a:r>
              <a:rPr lang="cs-CZ" dirty="0" err="1">
                <a:latin typeface="ThiemeGulliver2011-Regular"/>
              </a:rPr>
              <a:t>Optic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chiasm</a:t>
            </a:r>
            <a:endParaRPr lang="cs-CZ" dirty="0">
              <a:latin typeface="ThiemeGulliver2011-Regular"/>
            </a:endParaRPr>
          </a:p>
          <a:p>
            <a:r>
              <a:rPr lang="en-US" dirty="0">
                <a:latin typeface="ThiemeGulliver2011-Regular"/>
              </a:rPr>
              <a:t>• The optic chiasm is located in the suprasellar cistern.</a:t>
            </a:r>
          </a:p>
          <a:p>
            <a:r>
              <a:rPr lang="en-US" dirty="0">
                <a:latin typeface="ThiemeGulliver2011-Regular"/>
              </a:rPr>
              <a:t>• It lies superior to the pituitary gland and anterior to the pituitary stalk (infundibulum).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5040907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E18F8604-7081-41BC-9762-267B0A40F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698" y="314232"/>
            <a:ext cx="8603450" cy="6229536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531D4774-D736-4D50-9D20-BC2B3A9ABB79}"/>
              </a:ext>
            </a:extLst>
          </p:cNvPr>
          <p:cNvSpPr/>
          <p:nvPr/>
        </p:nvSpPr>
        <p:spPr>
          <a:xfrm>
            <a:off x="266852" y="697077"/>
            <a:ext cx="2383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hiemeArgo2011-Bold"/>
              </a:rPr>
              <a:t>Coronal CT of the brain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1635238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E18F8604-7081-41BC-9762-267B0A40F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9480" y="221868"/>
            <a:ext cx="8603450" cy="6229536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531D4774-D736-4D50-9D20-BC2B3A9ABB79}"/>
              </a:ext>
            </a:extLst>
          </p:cNvPr>
          <p:cNvSpPr/>
          <p:nvPr/>
        </p:nvSpPr>
        <p:spPr>
          <a:xfrm>
            <a:off x="266852" y="697077"/>
            <a:ext cx="2383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hiemeArgo2011-Bold"/>
              </a:rPr>
              <a:t>Coronal CT of the brain</a:t>
            </a:r>
            <a:endParaRPr lang="cs-CZ" dirty="0"/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57B260CD-AADA-4550-94B7-5E8712F20CAE}"/>
              </a:ext>
            </a:extLst>
          </p:cNvPr>
          <p:cNvSpPr/>
          <p:nvPr/>
        </p:nvSpPr>
        <p:spPr>
          <a:xfrm>
            <a:off x="603126" y="1636608"/>
            <a:ext cx="245687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hiemeGulliver2011-Bold"/>
              </a:rPr>
              <a:t>Answer: </a:t>
            </a:r>
            <a:r>
              <a:rPr lang="en-US" dirty="0">
                <a:latin typeface="ThiemeGulliver2011-Regular"/>
              </a:rPr>
              <a:t>Left inferior nasal turbinate bone</a:t>
            </a:r>
          </a:p>
          <a:p>
            <a:r>
              <a:rPr lang="en-US" dirty="0">
                <a:latin typeface="ThiemeGulliver2011-Regular"/>
              </a:rPr>
              <a:t>• The </a:t>
            </a:r>
            <a:r>
              <a:rPr lang="en-US" dirty="0" err="1">
                <a:latin typeface="ThiemeGulliver2011-Regular"/>
              </a:rPr>
              <a:t>turbinates</a:t>
            </a:r>
            <a:r>
              <a:rPr lang="en-US" dirty="0">
                <a:latin typeface="ThiemeGulliver2011-Regular"/>
              </a:rPr>
              <a:t> are respiratory epithelium-lined, curled bones in the lateral portion of the nasal cavity.</a:t>
            </a:r>
          </a:p>
          <a:p>
            <a:r>
              <a:rPr lang="en-US" dirty="0">
                <a:latin typeface="ThiemeGulliver2011-Regular"/>
              </a:rPr>
              <a:t>• They are divided by the nasal septum in the midline.</a:t>
            </a:r>
          </a:p>
          <a:p>
            <a:r>
              <a:rPr lang="en-US" dirty="0">
                <a:latin typeface="ThiemeGulliver2011-Regular"/>
              </a:rPr>
              <a:t>• There are three pairs of nasal </a:t>
            </a:r>
            <a:r>
              <a:rPr lang="en-US" dirty="0" err="1">
                <a:latin typeface="ThiemeGulliver2011-Regular"/>
              </a:rPr>
              <a:t>turbinates</a:t>
            </a:r>
            <a:r>
              <a:rPr lang="en-US" dirty="0">
                <a:latin typeface="ThiemeGulliver2011-Regular"/>
              </a:rPr>
              <a:t>:</a:t>
            </a:r>
          </a:p>
          <a:p>
            <a:r>
              <a:rPr lang="cs-CZ" sz="800" b="0" i="0" u="none" strike="noStrike" baseline="0" dirty="0">
                <a:latin typeface="ThiemeGulliver2011-Regular"/>
              </a:rPr>
              <a:t>○ </a:t>
            </a:r>
            <a:r>
              <a:rPr lang="cs-CZ" dirty="0" err="1">
                <a:latin typeface="ThiemeGulliver2011-Regular"/>
              </a:rPr>
              <a:t>Inferior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turbinates</a:t>
            </a:r>
            <a:r>
              <a:rPr lang="cs-CZ" dirty="0">
                <a:latin typeface="ThiemeGulliver2011-Regular"/>
              </a:rPr>
              <a:t> (</a:t>
            </a:r>
            <a:r>
              <a:rPr lang="cs-CZ" dirty="0" err="1">
                <a:latin typeface="ThiemeGulliver2011-Regular"/>
              </a:rPr>
              <a:t>the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largest</a:t>
            </a:r>
            <a:r>
              <a:rPr lang="cs-CZ" dirty="0">
                <a:latin typeface="ThiemeGulliver2011-Regular"/>
              </a:rPr>
              <a:t>)</a:t>
            </a:r>
          </a:p>
          <a:p>
            <a:r>
              <a:rPr lang="cs-CZ" sz="800" b="0" i="0" u="none" strike="noStrike" baseline="0" dirty="0">
                <a:latin typeface="ThiemeGulliver2011-Regular"/>
              </a:rPr>
              <a:t>○ </a:t>
            </a:r>
            <a:r>
              <a:rPr lang="cs-CZ" dirty="0" err="1">
                <a:latin typeface="ThiemeGulliver2011-Regular"/>
              </a:rPr>
              <a:t>Middle</a:t>
            </a:r>
            <a:r>
              <a:rPr lang="cs-CZ" dirty="0">
                <a:latin typeface="ThiemeGulliver2011-Regular"/>
              </a:rPr>
              <a:t> </a:t>
            </a:r>
            <a:r>
              <a:rPr lang="cs-CZ" dirty="0" err="1">
                <a:latin typeface="ThiemeGulliver2011-Regular"/>
              </a:rPr>
              <a:t>turbinates</a:t>
            </a:r>
            <a:endParaRPr lang="cs-CZ" dirty="0">
              <a:latin typeface="ThiemeGulliver2011-Regular"/>
            </a:endParaRPr>
          </a:p>
          <a:p>
            <a:r>
              <a:rPr lang="cs-CZ" sz="800" b="0" i="0" u="none" strike="noStrike" baseline="0" dirty="0">
                <a:latin typeface="ThiemeGulliver2011-Regular"/>
              </a:rPr>
              <a:t>○ </a:t>
            </a:r>
            <a:r>
              <a:rPr lang="cs-CZ" dirty="0">
                <a:latin typeface="ThiemeGulliver2011-Regular"/>
              </a:rPr>
              <a:t>Superior </a:t>
            </a:r>
            <a:r>
              <a:rPr lang="cs-CZ" dirty="0" err="1">
                <a:latin typeface="ThiemeGulliver2011-Regular"/>
              </a:rPr>
              <a:t>turbinates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4688252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AC4968C7-42CA-44DB-A46F-723D68DF4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455" y="132810"/>
            <a:ext cx="5364241" cy="6664663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C2304FA0-A377-4A71-8A2A-702FA099F4E4}"/>
              </a:ext>
            </a:extLst>
          </p:cNvPr>
          <p:cNvSpPr/>
          <p:nvPr/>
        </p:nvSpPr>
        <p:spPr>
          <a:xfrm>
            <a:off x="1602706" y="205570"/>
            <a:ext cx="25396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hiemeArgo2011-Bold"/>
              </a:rPr>
              <a:t>Coronal MRI of the brain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7663117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AC4968C7-42CA-44DB-A46F-723D68DF4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455" y="132810"/>
            <a:ext cx="5364241" cy="6664663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C2304FA0-A377-4A71-8A2A-702FA099F4E4}"/>
              </a:ext>
            </a:extLst>
          </p:cNvPr>
          <p:cNvSpPr/>
          <p:nvPr/>
        </p:nvSpPr>
        <p:spPr>
          <a:xfrm>
            <a:off x="1602706" y="205570"/>
            <a:ext cx="25396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hiemeArgo2011-Bold"/>
              </a:rPr>
              <a:t>Coronal MRI of the brain</a:t>
            </a:r>
            <a:endParaRPr lang="cs-CZ"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07D3C3A8-7B42-44D0-9162-7919D81FB0DB}"/>
              </a:ext>
            </a:extLst>
          </p:cNvPr>
          <p:cNvSpPr/>
          <p:nvPr/>
        </p:nvSpPr>
        <p:spPr>
          <a:xfrm>
            <a:off x="267855" y="1018601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ThiemeGulliver2011-Bold"/>
              </a:rPr>
              <a:t>Answer: </a:t>
            </a:r>
            <a:r>
              <a:rPr lang="en-US" dirty="0">
                <a:latin typeface="ThiemeGulliver2011-Regular"/>
              </a:rPr>
              <a:t>Right inferior rectus muscle</a:t>
            </a:r>
          </a:p>
          <a:p>
            <a:r>
              <a:rPr lang="en-US" dirty="0">
                <a:latin typeface="ThiemeGulliver2011-Regular"/>
              </a:rPr>
              <a:t>• The inferior rectus muscle is a paired structure that depresses the eye.</a:t>
            </a:r>
          </a:p>
          <a:p>
            <a:r>
              <a:rPr lang="en-US" dirty="0">
                <a:latin typeface="ThiemeGulliver2011-Regular"/>
              </a:rPr>
              <a:t>• It is innervated by the oculomotor nerve.</a:t>
            </a:r>
          </a:p>
          <a:p>
            <a:r>
              <a:rPr lang="en-US" dirty="0">
                <a:latin typeface="ThiemeGulliver2011-Regular"/>
              </a:rPr>
              <a:t>• It is one of the six extraocular muscles of the orbit. See figure below.</a:t>
            </a:r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14DD82F1-A4EE-41DC-9E52-4F36100E1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217" y="2974253"/>
            <a:ext cx="4867275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63805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D7665599-074A-4153-AEC6-99229A414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13" y="24216"/>
            <a:ext cx="10101551" cy="68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71440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07BC6C6C-55DC-4BF7-87B1-05A83CCD1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77" y="220229"/>
            <a:ext cx="10406496" cy="659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8319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A3364C04-260D-48D1-9D5D-4A2E4496E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412" y="242887"/>
            <a:ext cx="8639175" cy="637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84428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BBCF557CFDE1B4187D1134D8036C73E" ma:contentTypeVersion="7" ma:contentTypeDescription="Vytvoří nový dokument" ma:contentTypeScope="" ma:versionID="ab9346c9fd6b2cd684bfe43907849488">
  <xsd:schema xmlns:xsd="http://www.w3.org/2001/XMLSchema" xmlns:xs="http://www.w3.org/2001/XMLSchema" xmlns:p="http://schemas.microsoft.com/office/2006/metadata/properties" xmlns:ns2="c195a2a0-e0ca-4850-b5a9-c5c0507c05e4" targetNamespace="http://schemas.microsoft.com/office/2006/metadata/properties" ma:root="true" ma:fieldsID="83a4335b1f07174264d63a242b5371ab" ns2:_="">
    <xsd:import namespace="c195a2a0-e0ca-4850-b5a9-c5c0507c05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95a2a0-e0ca-4850-b5a9-c5c0507c05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11A6B4A-5FB7-4350-B3EB-C3B2CDE9588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A5C61E0-BDB0-4476-A7D0-04B0B0D2864C}">
  <ds:schemaRefs>
    <ds:schemaRef ds:uri="http://schemas.openxmlformats.org/package/2006/metadata/core-properties"/>
    <ds:schemaRef ds:uri="http://purl.org/dc/terms/"/>
    <ds:schemaRef ds:uri="http://schemas.microsoft.com/office/2006/metadata/properties"/>
    <ds:schemaRef ds:uri="7fe4a9b0-f49a-4fb3-83da-e24c779fd293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91EC428-314A-4528-BAD5-399838CC3F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95a2a0-e0ca-4850-b5a9-c5c0507c05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3392</Words>
  <Application>Microsoft Macintosh PowerPoint</Application>
  <PresentationFormat>Widescreen</PresentationFormat>
  <Paragraphs>401</Paragraphs>
  <Slides>94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101" baseType="lpstr">
      <vt:lpstr>Arial</vt:lpstr>
      <vt:lpstr>Calibri</vt:lpstr>
      <vt:lpstr>Calibri Light</vt:lpstr>
      <vt:lpstr>ThiemeArgo2011-Bold</vt:lpstr>
      <vt:lpstr>ThiemeGulliver2011-Bold</vt:lpstr>
      <vt:lpstr>ThiemeGulliver2011-Regular</vt:lpstr>
      <vt:lpstr>Motiv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Lacina Lukáš, MUDr. Ph.D.</dc:creator>
  <cp:lastModifiedBy>Efraim Goldin</cp:lastModifiedBy>
  <cp:revision>12</cp:revision>
  <dcterms:created xsi:type="dcterms:W3CDTF">2021-05-13T21:40:41Z</dcterms:created>
  <dcterms:modified xsi:type="dcterms:W3CDTF">2026-05-26T18:21:59Z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063cd7f-2d21-486a-9f29-9c1683fdd175_Enabled">
    <vt:lpwstr>true</vt:lpwstr>
  </property>
  <property fmtid="{D5CDD505-2E9C-101B-9397-08002B2CF9AE}" pid="3" name="MSIP_Label_2063cd7f-2d21-486a-9f29-9c1683fdd175_SetDate">
    <vt:lpwstr>2021-05-13T21:40:43Z</vt:lpwstr>
  </property>
  <property fmtid="{D5CDD505-2E9C-101B-9397-08002B2CF9AE}" pid="4" name="MSIP_Label_2063cd7f-2d21-486a-9f29-9c1683fdd175_Method">
    <vt:lpwstr>Standard</vt:lpwstr>
  </property>
  <property fmtid="{D5CDD505-2E9C-101B-9397-08002B2CF9AE}" pid="5" name="MSIP_Label_2063cd7f-2d21-486a-9f29-9c1683fdd175_Name">
    <vt:lpwstr>2063cd7f-2d21-486a-9f29-9c1683fdd175</vt:lpwstr>
  </property>
  <property fmtid="{D5CDD505-2E9C-101B-9397-08002B2CF9AE}" pid="6" name="MSIP_Label_2063cd7f-2d21-486a-9f29-9c1683fdd175_SiteId">
    <vt:lpwstr>0f277086-d4e0-4971-bc1a-bbc5df0eb246</vt:lpwstr>
  </property>
  <property fmtid="{D5CDD505-2E9C-101B-9397-08002B2CF9AE}" pid="7" name="MSIP_Label_2063cd7f-2d21-486a-9f29-9c1683fdd175_ActionId">
    <vt:lpwstr>bd49190e-6056-45ec-8ea6-b9b9cd27084d</vt:lpwstr>
  </property>
  <property fmtid="{D5CDD505-2E9C-101B-9397-08002B2CF9AE}" pid="8" name="MSIP_Label_2063cd7f-2d21-486a-9f29-9c1683fdd175_ContentBits">
    <vt:lpwstr>0</vt:lpwstr>
  </property>
  <property fmtid="{D5CDD505-2E9C-101B-9397-08002B2CF9AE}" pid="9" name="ContentTypeId">
    <vt:lpwstr>0x010100CBBCF557CFDE1B4187D1134D8036C73E</vt:lpwstr>
  </property>
  <property fmtid="{D5CDD505-2E9C-101B-9397-08002B2CF9AE}" pid="10" name="MediaServiceImageTags">
    <vt:lpwstr/>
  </property>
  <property fmtid="{D5CDD505-2E9C-101B-9397-08002B2CF9AE}" pid="11" name="Order">
    <vt:r8>6500</vt:r8>
  </property>
  <property fmtid="{D5CDD505-2E9C-101B-9397-08002B2CF9AE}" pid="12" name="xd_Signature">
    <vt:bool>false</vt:bool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_ExtendedDescription">
    <vt:lpwstr/>
  </property>
  <property fmtid="{D5CDD505-2E9C-101B-9397-08002B2CF9AE}" pid="19" name="TriggerFlowInfo">
    <vt:lpwstr/>
  </property>
</Properties>
</file>